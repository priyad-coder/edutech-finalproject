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 name="Google Shape;3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3" name="Google Shape;33;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 name="Google Shape;5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7" name="Google Shape;5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83" name="Google Shape;8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3" name="Google Shape;11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7" name="Google Shape;137;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2" name="Google Shape;17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30" name="Google Shape;23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0" name="Google Shape;250;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3" name="Google Shape;29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C6E"/>
        </a:solidFill>
      </p:bgPr>
    </p:bg>
    <p:spTree>
      <p:nvGrpSpPr>
        <p:cNvPr id="11" name="Shape 11"/>
        <p:cNvGrpSpPr/>
        <p:nvPr/>
      </p:nvGrpSpPr>
      <p:grpSpPr>
        <a:xfrm>
          <a:off x="0" y="0"/>
          <a:ext cx="0" cy="0"/>
          <a:chOff x="0" y="0"/>
          <a:chExt cx="0" cy="0"/>
        </a:xfrm>
      </p:grpSpPr>
      <p:sp>
        <p:nvSpPr>
          <p:cNvPr id="12" name="Google Shape;12;p3"/>
          <p:cNvSpPr/>
          <p:nvPr/>
        </p:nvSpPr>
        <p:spPr>
          <a:xfrm>
            <a:off x="7132320" y="-1097280"/>
            <a:ext cx="3200400" cy="3200400"/>
          </a:xfrm>
          <a:prstGeom prst="ellipse">
            <a:avLst/>
          </a:prstGeom>
          <a:solidFill>
            <a:srgbClr val="2B5BA8">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3"/>
          <p:cNvSpPr/>
          <p:nvPr/>
        </p:nvSpPr>
        <p:spPr>
          <a:xfrm>
            <a:off x="7772400" y="-457200"/>
            <a:ext cx="2011680" cy="2011680"/>
          </a:xfrm>
          <a:prstGeom prst="ellipse">
            <a:avLst/>
          </a:prstGeom>
          <a:solidFill>
            <a:srgbClr val="4A80D4">
              <a:alpha val="4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p:nvPr/>
        </p:nvSpPr>
        <p:spPr>
          <a:xfrm>
            <a:off x="-731520" y="3474720"/>
            <a:ext cx="2286000" cy="2286000"/>
          </a:xfrm>
          <a:prstGeom prst="ellipse">
            <a:avLst/>
          </a:prstGeom>
          <a:solidFill>
            <a:srgbClr val="4A80D4">
              <a:alpha val="3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201168" cy="51435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_nobg.png" id="16" name="Google Shape;16;p3"/>
          <p:cNvPicPr preferRelativeResize="0"/>
          <p:nvPr/>
        </p:nvPicPr>
        <p:blipFill rotWithShape="1">
          <a:blip r:embed="rId3">
            <a:alphaModFix/>
          </a:blip>
          <a:srcRect b="0" l="0" r="0" t="0"/>
          <a:stretch/>
        </p:blipFill>
        <p:spPr>
          <a:xfrm>
            <a:off x="7635240" y="100584"/>
            <a:ext cx="1371600" cy="569433"/>
          </a:xfrm>
          <a:prstGeom prst="rect">
            <a:avLst/>
          </a:prstGeom>
          <a:noFill/>
          <a:ln>
            <a:noFill/>
          </a:ln>
        </p:spPr>
      </p:pic>
      <p:pic>
        <p:nvPicPr>
          <p:cNvPr descr="preencoded.png" id="17" name="Google Shape;17;p3"/>
          <p:cNvPicPr preferRelativeResize="0"/>
          <p:nvPr/>
        </p:nvPicPr>
        <p:blipFill rotWithShape="1">
          <a:blip r:embed="rId4">
            <a:alphaModFix/>
          </a:blip>
          <a:srcRect b="0" l="0" r="0" t="0"/>
          <a:stretch/>
        </p:blipFill>
        <p:spPr>
          <a:xfrm>
            <a:off x="502920" y="347472"/>
            <a:ext cx="594360" cy="594360"/>
          </a:xfrm>
          <a:prstGeom prst="rect">
            <a:avLst/>
          </a:prstGeom>
          <a:noFill/>
          <a:ln>
            <a:noFill/>
          </a:ln>
        </p:spPr>
      </p:pic>
      <p:sp>
        <p:nvSpPr>
          <p:cNvPr id="18" name="Google Shape;18;p3"/>
          <p:cNvSpPr/>
          <p:nvPr/>
        </p:nvSpPr>
        <p:spPr>
          <a:xfrm>
            <a:off x="502920" y="1115568"/>
            <a:ext cx="2286000" cy="320040"/>
          </a:xfrm>
          <a:prstGeom prst="rect">
            <a:avLst/>
          </a:prstGeom>
          <a:solidFill>
            <a:srgbClr val="3AACF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02920" y="1115568"/>
            <a:ext cx="22860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lang="en-US" sz="900">
                <a:solidFill>
                  <a:srgbClr val="FFFFFF"/>
                </a:solidFill>
                <a:latin typeface="Calibri"/>
                <a:ea typeface="Calibri"/>
                <a:cs typeface="Calibri"/>
                <a:sym typeface="Calibri"/>
              </a:rPr>
              <a:t>Data science</a:t>
            </a:r>
            <a:endParaRPr b="0" i="0" sz="900" u="none" cap="none" strike="noStrike">
              <a:solidFill>
                <a:schemeClr val="dk1"/>
              </a:solidFill>
              <a:latin typeface="Calibri"/>
              <a:ea typeface="Calibri"/>
              <a:cs typeface="Calibri"/>
              <a:sym typeface="Calibri"/>
            </a:endParaRPr>
          </a:p>
        </p:txBody>
      </p:sp>
      <p:sp>
        <p:nvSpPr>
          <p:cNvPr id="20" name="Google Shape;20;p3"/>
          <p:cNvSpPr/>
          <p:nvPr/>
        </p:nvSpPr>
        <p:spPr>
          <a:xfrm>
            <a:off x="-3827630" y="3913650"/>
            <a:ext cx="6400800" cy="141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Internship Project</a:t>
            </a:r>
            <a:endParaRPr b="0" i="0" sz="38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800"/>
              <a:buFont typeface="Calibri"/>
              <a:buNone/>
            </a:pPr>
            <a:r>
              <a:rPr b="1" i="0" lang="en-US" sz="3800" u="none" cap="none" strike="noStrike">
                <a:solidFill>
                  <a:srgbClr val="FFFFFF"/>
                </a:solidFill>
                <a:latin typeface="Calibri"/>
                <a:ea typeface="Calibri"/>
                <a:cs typeface="Calibri"/>
                <a:sym typeface="Calibri"/>
              </a:rPr>
              <a:t>Presentation</a:t>
            </a:r>
            <a:endParaRPr b="0" i="0" sz="3800" u="none" cap="none" strike="noStrike">
              <a:solidFill>
                <a:schemeClr val="dk1"/>
              </a:solidFill>
              <a:latin typeface="Calibri"/>
              <a:ea typeface="Calibri"/>
              <a:cs typeface="Calibri"/>
              <a:sym typeface="Calibri"/>
            </a:endParaRPr>
          </a:p>
        </p:txBody>
      </p:sp>
      <p:sp>
        <p:nvSpPr>
          <p:cNvPr id="21" name="Google Shape;21;p3"/>
          <p:cNvSpPr/>
          <p:nvPr/>
        </p:nvSpPr>
        <p:spPr>
          <a:xfrm>
            <a:off x="502920" y="3127248"/>
            <a:ext cx="7772400" cy="457200"/>
          </a:xfrm>
          <a:prstGeom prst="rect">
            <a:avLst/>
          </a:prstGeom>
          <a:solidFill>
            <a:srgbClr val="2B5BA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 name="Google Shape;22;p3"/>
          <p:cNvSpPr/>
          <p:nvPr/>
        </p:nvSpPr>
        <p:spPr>
          <a:xfrm>
            <a:off x="502920" y="3127248"/>
            <a:ext cx="77724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ACF0"/>
              </a:buClr>
              <a:buSzPts val="1500"/>
              <a:buFont typeface="Calibri"/>
              <a:buNone/>
            </a:pPr>
            <a:r>
              <a:rPr lang="en-US" sz="1500">
                <a:solidFill>
                  <a:schemeClr val="dk1"/>
                </a:solidFill>
                <a:latin typeface="Calibri"/>
                <a:ea typeface="Calibri"/>
                <a:cs typeface="Calibri"/>
                <a:sym typeface="Calibri"/>
              </a:rPr>
              <a:t>Cryptocurrency Price Prediction using Deep Learning (LSTM)  </a:t>
            </a:r>
            <a:endParaRPr sz="1500">
              <a:solidFill>
                <a:schemeClr val="dk1"/>
              </a:solidFill>
              <a:latin typeface="Calibri"/>
              <a:ea typeface="Calibri"/>
              <a:cs typeface="Calibri"/>
              <a:sym typeface="Calibri"/>
            </a:endParaRPr>
          </a:p>
        </p:txBody>
      </p:sp>
      <p:cxnSp>
        <p:nvCxnSpPr>
          <p:cNvPr id="23" name="Google Shape;23;p3"/>
          <p:cNvCxnSpPr/>
          <p:nvPr/>
        </p:nvCxnSpPr>
        <p:spPr>
          <a:xfrm>
            <a:off x="502920" y="3749040"/>
            <a:ext cx="8046720" cy="0"/>
          </a:xfrm>
          <a:prstGeom prst="straightConnector1">
            <a:avLst/>
          </a:prstGeom>
          <a:noFill/>
          <a:ln cap="flat" cmpd="sng" w="9525">
            <a:solidFill>
              <a:srgbClr val="D1D9E6">
                <a:alpha val="40000"/>
              </a:srgbClr>
            </a:solidFill>
            <a:prstDash val="solid"/>
            <a:round/>
            <a:headEnd len="sm" w="sm" type="none"/>
            <a:tailEnd len="sm" w="sm" type="none"/>
          </a:ln>
        </p:spPr>
      </p:cxnSp>
      <p:sp>
        <p:nvSpPr>
          <p:cNvPr id="24" name="Google Shape;24;p3"/>
          <p:cNvSpPr/>
          <p:nvPr/>
        </p:nvSpPr>
        <p:spPr>
          <a:xfrm>
            <a:off x="502920" y="3822192"/>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ACF0"/>
              </a:buClr>
              <a:buSzPts val="750"/>
              <a:buFont typeface="Calibri"/>
              <a:buNone/>
            </a:pPr>
            <a:r>
              <a:rPr b="1" lang="en-US" sz="750">
                <a:solidFill>
                  <a:srgbClr val="3AACF0"/>
                </a:solidFill>
                <a:latin typeface="Calibri"/>
                <a:ea typeface="Calibri"/>
                <a:cs typeface="Calibri"/>
                <a:sym typeface="Calibri"/>
              </a:rPr>
              <a:t>NAME</a:t>
            </a:r>
            <a:endParaRPr sz="750">
              <a:solidFill>
                <a:schemeClr val="dk1"/>
              </a:solidFill>
              <a:latin typeface="Calibri"/>
              <a:ea typeface="Calibri"/>
              <a:cs typeface="Calibri"/>
              <a:sym typeface="Calibri"/>
            </a:endParaRPr>
          </a:p>
        </p:txBody>
      </p:sp>
      <p:sp>
        <p:nvSpPr>
          <p:cNvPr id="25" name="Google Shape;25;p3"/>
          <p:cNvSpPr/>
          <p:nvPr/>
        </p:nvSpPr>
        <p:spPr>
          <a:xfrm>
            <a:off x="502920" y="4041648"/>
            <a:ext cx="2560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Priya Dattatray Deshmukh</a:t>
            </a:r>
            <a:endParaRPr sz="1200">
              <a:solidFill>
                <a:schemeClr val="dk1"/>
              </a:solidFill>
              <a:latin typeface="Calibri"/>
              <a:ea typeface="Calibri"/>
              <a:cs typeface="Calibri"/>
              <a:sym typeface="Calibri"/>
            </a:endParaRPr>
          </a:p>
        </p:txBody>
      </p:sp>
      <p:sp>
        <p:nvSpPr>
          <p:cNvPr id="26" name="Google Shape;26;p3"/>
          <p:cNvSpPr/>
          <p:nvPr/>
        </p:nvSpPr>
        <p:spPr>
          <a:xfrm>
            <a:off x="3108960" y="3822192"/>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ACF0"/>
              </a:buClr>
              <a:buSzPts val="750"/>
              <a:buFont typeface="Calibri"/>
              <a:buNone/>
            </a:pPr>
            <a:r>
              <a:rPr b="1" lang="en-US" sz="750">
                <a:solidFill>
                  <a:srgbClr val="3AACF0"/>
                </a:solidFill>
                <a:latin typeface="Calibri"/>
                <a:ea typeface="Calibri"/>
                <a:cs typeface="Calibri"/>
                <a:sym typeface="Calibri"/>
              </a:rPr>
              <a:t>COMPANY</a:t>
            </a:r>
            <a:endParaRPr sz="750">
              <a:solidFill>
                <a:schemeClr val="dk1"/>
              </a:solidFill>
              <a:latin typeface="Calibri"/>
              <a:ea typeface="Calibri"/>
              <a:cs typeface="Calibri"/>
              <a:sym typeface="Calibri"/>
            </a:endParaRPr>
          </a:p>
        </p:txBody>
      </p:sp>
      <p:sp>
        <p:nvSpPr>
          <p:cNvPr id="27" name="Google Shape;27;p3"/>
          <p:cNvSpPr/>
          <p:nvPr/>
        </p:nvSpPr>
        <p:spPr>
          <a:xfrm>
            <a:off x="3108960" y="4041648"/>
            <a:ext cx="2560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EduTech Solutions</a:t>
            </a:r>
            <a:endParaRPr sz="1200">
              <a:solidFill>
                <a:schemeClr val="dk1"/>
              </a:solidFill>
              <a:latin typeface="Calibri"/>
              <a:ea typeface="Calibri"/>
              <a:cs typeface="Calibri"/>
              <a:sym typeface="Calibri"/>
            </a:endParaRPr>
          </a:p>
        </p:txBody>
      </p:sp>
      <p:sp>
        <p:nvSpPr>
          <p:cNvPr id="28" name="Google Shape;28;p3"/>
          <p:cNvSpPr/>
          <p:nvPr/>
        </p:nvSpPr>
        <p:spPr>
          <a:xfrm>
            <a:off x="5760720" y="3822192"/>
            <a:ext cx="256032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ACF0"/>
              </a:buClr>
              <a:buSzPts val="750"/>
              <a:buFont typeface="Calibri"/>
              <a:buNone/>
            </a:pPr>
            <a:r>
              <a:rPr b="1" lang="en-US" sz="750">
                <a:solidFill>
                  <a:srgbClr val="3AACF0"/>
                </a:solidFill>
                <a:latin typeface="Calibri"/>
                <a:ea typeface="Calibri"/>
                <a:cs typeface="Calibri"/>
                <a:sym typeface="Calibri"/>
              </a:rPr>
              <a:t>DURATION</a:t>
            </a:r>
            <a:endParaRPr sz="750">
              <a:solidFill>
                <a:schemeClr val="dk1"/>
              </a:solidFill>
              <a:latin typeface="Calibri"/>
              <a:ea typeface="Calibri"/>
              <a:cs typeface="Calibri"/>
              <a:sym typeface="Calibri"/>
            </a:endParaRPr>
          </a:p>
        </p:txBody>
      </p:sp>
      <p:sp>
        <p:nvSpPr>
          <p:cNvPr id="29" name="Google Shape;29;p3"/>
          <p:cNvSpPr/>
          <p:nvPr/>
        </p:nvSpPr>
        <p:spPr>
          <a:xfrm>
            <a:off x="5760720" y="4041648"/>
            <a:ext cx="2560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[20</a:t>
            </a:r>
            <a:r>
              <a:rPr b="1" lang="en-US" sz="1200">
                <a:solidFill>
                  <a:srgbClr val="FFFFFF"/>
                </a:solidFill>
                <a:latin typeface="Calibri"/>
                <a:ea typeface="Calibri"/>
                <a:cs typeface="Calibri"/>
                <a:sym typeface="Calibri"/>
              </a:rPr>
              <a:t>-4-2026</a:t>
            </a:r>
            <a:r>
              <a:rPr b="1" lang="en-US" sz="1200">
                <a:solidFill>
                  <a:srgbClr val="FFFFFF"/>
                </a:solidFill>
                <a:latin typeface="Calibri"/>
                <a:ea typeface="Calibri"/>
                <a:cs typeface="Calibri"/>
                <a:sym typeface="Calibri"/>
              </a:rPr>
              <a:t> – 20-5-2026]</a:t>
            </a:r>
            <a:endParaRPr sz="1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34" name="Shape 34"/>
        <p:cNvGrpSpPr/>
        <p:nvPr/>
      </p:nvGrpSpPr>
      <p:grpSpPr>
        <a:xfrm>
          <a:off x="0" y="0"/>
          <a:ext cx="0" cy="0"/>
          <a:chOff x="0" y="0"/>
          <a:chExt cx="0" cy="0"/>
        </a:xfrm>
      </p:grpSpPr>
      <p:sp>
        <p:nvSpPr>
          <p:cNvPr id="35" name="Google Shape;35;p4"/>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 name="Google Shape;38;p4"/>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39" name="Google Shape;39;p4"/>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Introduction</a:t>
            </a:r>
            <a:endParaRPr sz="2400">
              <a:solidFill>
                <a:schemeClr val="dk1"/>
              </a:solidFill>
              <a:latin typeface="Calibri"/>
              <a:ea typeface="Calibri"/>
              <a:cs typeface="Calibri"/>
              <a:sym typeface="Calibri"/>
            </a:endParaRPr>
          </a:p>
        </p:txBody>
      </p:sp>
      <p:sp>
        <p:nvSpPr>
          <p:cNvPr id="40" name="Google Shape;40;p4"/>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2 / 10</a:t>
            </a:r>
            <a:endParaRPr sz="900">
              <a:solidFill>
                <a:schemeClr val="dk1"/>
              </a:solidFill>
              <a:latin typeface="Calibri"/>
              <a:ea typeface="Calibri"/>
              <a:cs typeface="Calibri"/>
              <a:sym typeface="Calibri"/>
            </a:endParaRPr>
          </a:p>
        </p:txBody>
      </p:sp>
      <p:pic>
        <p:nvPicPr>
          <p:cNvPr descr="/home/claude/logo_nobg.png" id="41" name="Google Shape;41;p4"/>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42" name="Google Shape;42;p4"/>
          <p:cNvSpPr/>
          <p:nvPr/>
        </p:nvSpPr>
        <p:spPr>
          <a:xfrm>
            <a:off x="256032"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256032" y="1078992"/>
            <a:ext cx="109728" cy="3858768"/>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457200" y="1170432"/>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Internship Overview</a:t>
            </a:r>
            <a:endParaRPr sz="1150">
              <a:solidFill>
                <a:schemeClr val="dk1"/>
              </a:solidFill>
              <a:latin typeface="Calibri"/>
              <a:ea typeface="Calibri"/>
              <a:cs typeface="Calibri"/>
              <a:sym typeface="Calibri"/>
            </a:endParaRPr>
          </a:p>
        </p:txBody>
      </p:sp>
      <p:sp>
        <p:nvSpPr>
          <p:cNvPr id="45" name="Google Shape;45;p4"/>
          <p:cNvSpPr/>
          <p:nvPr/>
        </p:nvSpPr>
        <p:spPr>
          <a:xfrm>
            <a:off x="457200" y="1517904"/>
            <a:ext cx="2542032" cy="332841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Domain: Data science </a:t>
            </a:r>
            <a:endParaRPr sz="1200">
              <a:solidFill>
                <a:schemeClr val="dk1"/>
              </a:solidFill>
              <a:latin typeface="Calibri"/>
              <a:ea typeface="Calibri"/>
              <a:cs typeface="Calibri"/>
              <a:sym typeface="Calibri"/>
            </a:endParaRPr>
          </a:p>
          <a:p>
            <a:pPr indent="-342900" lvl="0" marL="342900" marR="0" rtl="0" algn="l">
              <a:spcBef>
                <a:spcPts val="20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Company: EduTech Solutions</a:t>
            </a:r>
            <a:endParaRPr sz="1200">
              <a:solidFill>
                <a:schemeClr val="dk1"/>
              </a:solidFill>
              <a:latin typeface="Calibri"/>
              <a:ea typeface="Calibri"/>
              <a:cs typeface="Calibri"/>
              <a:sym typeface="Calibri"/>
            </a:endParaRPr>
          </a:p>
          <a:p>
            <a:pPr indent="-342900" lvl="0" marL="342900" marR="0" rtl="0" algn="l">
              <a:spcBef>
                <a:spcPts val="20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Duration:[20-4-2026–20</a:t>
            </a:r>
            <a:r>
              <a:rPr lang="en-US" sz="1200">
                <a:solidFill>
                  <a:srgbClr val="1A202C"/>
                </a:solidFill>
                <a:latin typeface="Calibri"/>
                <a:ea typeface="Calibri"/>
                <a:cs typeface="Calibri"/>
                <a:sym typeface="Calibri"/>
              </a:rPr>
              <a:t>-5-2026]</a:t>
            </a:r>
            <a:r>
              <a:rPr b="1" lang="en-US" sz="1200">
                <a:solidFill>
                  <a:schemeClr val="lt1"/>
                </a:solidFill>
                <a:latin typeface="Calibri"/>
                <a:ea typeface="Calibri"/>
                <a:cs typeface="Calibri"/>
                <a:sym typeface="Calibri"/>
              </a:rPr>
              <a:t>-2026 – 20-5-2026-2026 – 20-5-</a:t>
            </a:r>
            <a:endParaRPr sz="1200">
              <a:solidFill>
                <a:schemeClr val="dk1"/>
              </a:solidFill>
              <a:latin typeface="Calibri"/>
              <a:ea typeface="Calibri"/>
              <a:cs typeface="Calibri"/>
              <a:sym typeface="Calibri"/>
            </a:endParaRPr>
          </a:p>
          <a:p>
            <a:pPr indent="-342900" lvl="0" marL="342900" marR="0" rtl="0" algn="l">
              <a:spcBef>
                <a:spcPts val="20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Focus: Real-world data-driven projects Deep Learning, Time Series Forecasting, Cryptocurrency Analytics, Financial Data Prediction</a:t>
            </a:r>
            <a:endParaRPr sz="1200">
              <a:solidFill>
                <a:srgbClr val="1A202C"/>
              </a:solidFill>
              <a:latin typeface="Calibri"/>
              <a:ea typeface="Calibri"/>
              <a:cs typeface="Calibri"/>
              <a:sym typeface="Calibri"/>
            </a:endParaRPr>
          </a:p>
          <a:p>
            <a:pPr indent="-342900" lvl="0" marL="342900" marR="0" rtl="0" algn="l">
              <a:spcBef>
                <a:spcPts val="20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Guided by industry mentor throughout</a:t>
            </a:r>
            <a:endParaRPr sz="1200">
              <a:solidFill>
                <a:schemeClr val="dk1"/>
              </a:solidFill>
              <a:latin typeface="Calibri"/>
              <a:ea typeface="Calibri"/>
              <a:cs typeface="Calibri"/>
              <a:sym typeface="Calibri"/>
            </a:endParaRPr>
          </a:p>
        </p:txBody>
      </p:sp>
      <p:sp>
        <p:nvSpPr>
          <p:cNvPr id="46" name="Google Shape;46;p4"/>
          <p:cNvSpPr/>
          <p:nvPr/>
        </p:nvSpPr>
        <p:spPr>
          <a:xfrm>
            <a:off x="3246120"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3246120" y="1078992"/>
            <a:ext cx="109728" cy="3858768"/>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3447288" y="1170432"/>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Project Purpose</a:t>
            </a:r>
            <a:endParaRPr sz="1150">
              <a:solidFill>
                <a:schemeClr val="dk1"/>
              </a:solidFill>
              <a:latin typeface="Calibri"/>
              <a:ea typeface="Calibri"/>
              <a:cs typeface="Calibri"/>
              <a:sym typeface="Calibri"/>
            </a:endParaRPr>
          </a:p>
        </p:txBody>
      </p:sp>
      <p:sp>
        <p:nvSpPr>
          <p:cNvPr id="49" name="Google Shape;49;p4"/>
          <p:cNvSpPr/>
          <p:nvPr/>
        </p:nvSpPr>
        <p:spPr>
          <a:xfrm>
            <a:off x="3447288" y="1517904"/>
            <a:ext cx="2542032" cy="3328416"/>
          </a:xfrm>
          <a:prstGeom prst="rect">
            <a:avLst/>
          </a:prstGeom>
          <a:noFill/>
          <a:ln>
            <a:noFill/>
          </a:ln>
        </p:spPr>
        <p:txBody>
          <a:bodyPr anchorCtr="0" anchor="ctr" bIns="0" lIns="0" spcFirstLastPara="1" rIns="0" wrap="square" tIns="0">
            <a:noAutofit/>
          </a:bodyPr>
          <a:lstStyle/>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Predict future Bitcoin prices using historical market data.</a:t>
            </a:r>
            <a:endParaRPr sz="1200">
              <a:solidFill>
                <a:srgbClr val="1A202C"/>
              </a:solidFill>
              <a:latin typeface="Calibri"/>
              <a:ea typeface="Calibri"/>
              <a:cs typeface="Calibri"/>
              <a:sym typeface="Calibri"/>
            </a:endParaRPr>
          </a:p>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Implement an LSTM-based Deep Learning model.</a:t>
            </a:r>
            <a:endParaRPr sz="1200">
              <a:solidFill>
                <a:srgbClr val="1A202C"/>
              </a:solidFill>
              <a:latin typeface="Calibri"/>
              <a:ea typeface="Calibri"/>
              <a:cs typeface="Calibri"/>
              <a:sym typeface="Calibri"/>
            </a:endParaRPr>
          </a:p>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Analyze cryptocurrency market trends.</a:t>
            </a:r>
            <a:endParaRPr sz="1200">
              <a:solidFill>
                <a:srgbClr val="1A202C"/>
              </a:solidFill>
              <a:latin typeface="Calibri"/>
              <a:ea typeface="Calibri"/>
              <a:cs typeface="Calibri"/>
              <a:sym typeface="Calibri"/>
            </a:endParaRPr>
          </a:p>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Provide investors with AI-based price predictions.</a:t>
            </a:r>
            <a:endParaRPr sz="1200">
              <a:solidFill>
                <a:srgbClr val="1A202C"/>
              </a:solidFill>
              <a:latin typeface="Calibri"/>
              <a:ea typeface="Calibri"/>
              <a:cs typeface="Calibri"/>
              <a:sym typeface="Calibri"/>
            </a:endParaRPr>
          </a:p>
          <a:p>
            <a:pPr indent="-342900" lvl="0" marL="342900" marR="0" rtl="0" algn="l">
              <a:spcBef>
                <a:spcPts val="2700"/>
              </a:spcBef>
              <a:spcAft>
                <a:spcPts val="0"/>
              </a:spcAft>
              <a:buClr>
                <a:srgbClr val="1A202C"/>
              </a:buClr>
              <a:buSzPts val="1200"/>
              <a:buFont typeface="Calibri"/>
              <a:buChar char="•"/>
            </a:pPr>
            <a:r>
              <a:t/>
            </a:r>
            <a:endParaRPr sz="1200">
              <a:solidFill>
                <a:srgbClr val="1A202C"/>
              </a:solidFill>
              <a:latin typeface="Calibri"/>
              <a:ea typeface="Calibri"/>
              <a:cs typeface="Calibri"/>
              <a:sym typeface="Calibri"/>
            </a:endParaRPr>
          </a:p>
        </p:txBody>
      </p:sp>
      <p:sp>
        <p:nvSpPr>
          <p:cNvPr id="50" name="Google Shape;50;p4"/>
          <p:cNvSpPr/>
          <p:nvPr/>
        </p:nvSpPr>
        <p:spPr>
          <a:xfrm>
            <a:off x="6053328"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053328" y="1078992"/>
            <a:ext cx="109728" cy="3858768"/>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6254496" y="1170432"/>
            <a:ext cx="25420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Domain Relevance</a:t>
            </a:r>
            <a:endParaRPr sz="1150">
              <a:solidFill>
                <a:schemeClr val="dk1"/>
              </a:solidFill>
              <a:latin typeface="Calibri"/>
              <a:ea typeface="Calibri"/>
              <a:cs typeface="Calibri"/>
              <a:sym typeface="Calibri"/>
            </a:endParaRPr>
          </a:p>
        </p:txBody>
      </p:sp>
      <p:sp>
        <p:nvSpPr>
          <p:cNvPr id="53" name="Google Shape;53;p4"/>
          <p:cNvSpPr/>
          <p:nvPr/>
        </p:nvSpPr>
        <p:spPr>
          <a:xfrm>
            <a:off x="6254496" y="1517904"/>
            <a:ext cx="2542032" cy="3328416"/>
          </a:xfrm>
          <a:prstGeom prst="rect">
            <a:avLst/>
          </a:prstGeom>
          <a:noFill/>
          <a:ln>
            <a:noFill/>
          </a:ln>
        </p:spPr>
        <p:txBody>
          <a:bodyPr anchorCtr="0" anchor="ctr" bIns="0" lIns="0" spcFirstLastPara="1" rIns="0" wrap="square" tIns="0">
            <a:noAutofit/>
          </a:bodyPr>
          <a:lstStyle/>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AI is transforming financial forecasting.</a:t>
            </a:r>
            <a:endParaRPr sz="1200">
              <a:solidFill>
                <a:srgbClr val="1A202C"/>
              </a:solidFill>
              <a:latin typeface="Calibri"/>
              <a:ea typeface="Calibri"/>
              <a:cs typeface="Calibri"/>
              <a:sym typeface="Calibri"/>
            </a:endParaRPr>
          </a:p>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Deep Learning improves prediction accuracy.</a:t>
            </a:r>
            <a:endParaRPr sz="1200">
              <a:solidFill>
                <a:srgbClr val="1A202C"/>
              </a:solidFill>
              <a:latin typeface="Calibri"/>
              <a:ea typeface="Calibri"/>
              <a:cs typeface="Calibri"/>
              <a:sym typeface="Calibri"/>
            </a:endParaRPr>
          </a:p>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Cryptocurrency is one of the fastest-growing financial markets.</a:t>
            </a:r>
            <a:endParaRPr sz="1200">
              <a:solidFill>
                <a:srgbClr val="1A202C"/>
              </a:solidFill>
              <a:latin typeface="Calibri"/>
              <a:ea typeface="Calibri"/>
              <a:cs typeface="Calibri"/>
              <a:sym typeface="Calibri"/>
            </a:endParaRPr>
          </a:p>
          <a:p>
            <a:pPr indent="-304800" lvl="0" marL="457200" rtl="0" algn="l">
              <a:spcBef>
                <a:spcPts val="27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Hands-on implementation of real-world AI applications.</a:t>
            </a:r>
            <a:endParaRPr sz="1200">
              <a:solidFill>
                <a:srgbClr val="1A202C"/>
              </a:solidFill>
              <a:latin typeface="Calibri"/>
              <a:ea typeface="Calibri"/>
              <a:cs typeface="Calibri"/>
              <a:sym typeface="Calibri"/>
            </a:endParaRPr>
          </a:p>
          <a:p>
            <a:pPr indent="-342900" lvl="0" marL="342900" marR="0" rtl="0" algn="l">
              <a:spcBef>
                <a:spcPts val="2700"/>
              </a:spcBef>
              <a:spcAft>
                <a:spcPts val="0"/>
              </a:spcAft>
              <a:buClr>
                <a:srgbClr val="1A202C"/>
              </a:buClr>
              <a:buSzPts val="1200"/>
              <a:buFont typeface="Calibri"/>
              <a:buChar char="•"/>
            </a:pPr>
            <a:r>
              <a:t/>
            </a:r>
            <a:endParaRPr sz="1200">
              <a:solidFill>
                <a:srgbClr val="1A202C"/>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58" name="Shape 58"/>
        <p:cNvGrpSpPr/>
        <p:nvPr/>
      </p:nvGrpSpPr>
      <p:grpSpPr>
        <a:xfrm>
          <a:off x="0" y="0"/>
          <a:ext cx="0" cy="0"/>
          <a:chOff x="0" y="0"/>
          <a:chExt cx="0" cy="0"/>
        </a:xfrm>
      </p:grpSpPr>
      <p:sp>
        <p:nvSpPr>
          <p:cNvPr id="59" name="Google Shape;59;p5"/>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2" name="Google Shape;62;p5"/>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63" name="Google Shape;63;p5"/>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Company Overview</a:t>
            </a:r>
            <a:endParaRPr sz="2400">
              <a:solidFill>
                <a:schemeClr val="dk1"/>
              </a:solidFill>
              <a:latin typeface="Calibri"/>
              <a:ea typeface="Calibri"/>
              <a:cs typeface="Calibri"/>
              <a:sym typeface="Calibri"/>
            </a:endParaRPr>
          </a:p>
        </p:txBody>
      </p:sp>
      <p:sp>
        <p:nvSpPr>
          <p:cNvPr id="64" name="Google Shape;64;p5"/>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3 / 10</a:t>
            </a:r>
            <a:endParaRPr sz="900">
              <a:solidFill>
                <a:schemeClr val="dk1"/>
              </a:solidFill>
              <a:latin typeface="Calibri"/>
              <a:ea typeface="Calibri"/>
              <a:cs typeface="Calibri"/>
              <a:sym typeface="Calibri"/>
            </a:endParaRPr>
          </a:p>
        </p:txBody>
      </p:sp>
      <p:pic>
        <p:nvPicPr>
          <p:cNvPr descr="/home/claude/logo_nobg.png" id="65" name="Google Shape;65;p5"/>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66" name="Google Shape;66;p5"/>
          <p:cNvSpPr/>
          <p:nvPr/>
        </p:nvSpPr>
        <p:spPr>
          <a:xfrm>
            <a:off x="256032" y="1078992"/>
            <a:ext cx="4663440" cy="3858768"/>
          </a:xfrm>
          <a:prstGeom prst="rect">
            <a:avLst/>
          </a:prstGeom>
          <a:solidFill>
            <a:srgbClr val="1A3C6E"/>
          </a:solidFill>
          <a:ln>
            <a:noFill/>
          </a:ln>
          <a:effectLst>
            <a:outerShdw blurRad="127000" rotWithShape="0" algn="bl" dir="8100000" dist="25400">
              <a:srgbClr val="000000">
                <a:alpha val="1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256032" y="1078992"/>
            <a:ext cx="109728" cy="3858768"/>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475488" y="1216152"/>
            <a:ext cx="4352544"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ACF0"/>
              </a:buClr>
              <a:buSzPts val="1300"/>
              <a:buFont typeface="Calibri"/>
              <a:buNone/>
            </a:pPr>
            <a:r>
              <a:rPr b="1" lang="en-US" sz="1300">
                <a:solidFill>
                  <a:srgbClr val="3AACF0"/>
                </a:solidFill>
                <a:latin typeface="Calibri"/>
                <a:ea typeface="Calibri"/>
                <a:cs typeface="Calibri"/>
                <a:sym typeface="Calibri"/>
              </a:rPr>
              <a:t>About EduTech Solutions</a:t>
            </a:r>
            <a:endParaRPr sz="1300">
              <a:solidFill>
                <a:schemeClr val="dk1"/>
              </a:solidFill>
              <a:latin typeface="Calibri"/>
              <a:ea typeface="Calibri"/>
              <a:cs typeface="Calibri"/>
              <a:sym typeface="Calibri"/>
            </a:endParaRPr>
          </a:p>
        </p:txBody>
      </p:sp>
      <p:sp>
        <p:nvSpPr>
          <p:cNvPr id="69" name="Google Shape;69;p5"/>
          <p:cNvSpPr/>
          <p:nvPr/>
        </p:nvSpPr>
        <p:spPr>
          <a:xfrm>
            <a:off x="475488" y="1645920"/>
            <a:ext cx="4352544"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EduTech Solutions is an innovative technology company specialising in education platforms, learning management systems, and AI-powered academic tools.</a:t>
            </a:r>
            <a:endParaRPr sz="1100">
              <a:solidFill>
                <a:schemeClr val="dk1"/>
              </a:solidFill>
              <a:latin typeface="Calibri"/>
              <a:ea typeface="Calibri"/>
              <a:cs typeface="Calibri"/>
              <a:sym typeface="Calibri"/>
            </a:endParaRPr>
          </a:p>
        </p:txBody>
      </p:sp>
      <p:sp>
        <p:nvSpPr>
          <p:cNvPr id="70" name="Google Shape;70;p5"/>
          <p:cNvSpPr/>
          <p:nvPr/>
        </p:nvSpPr>
        <p:spPr>
          <a:xfrm>
            <a:off x="475488" y="2670048"/>
            <a:ext cx="4352544"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9E6"/>
              </a:buClr>
              <a:buSzPts val="1100"/>
              <a:buFont typeface="Calibri"/>
              <a:buNone/>
            </a:pPr>
            <a:r>
              <a:rPr lang="en-US" sz="1100">
                <a:solidFill>
                  <a:srgbClr val="D1D9E6"/>
                </a:solidFill>
                <a:latin typeface="Calibri"/>
                <a:ea typeface="Calibri"/>
                <a:cs typeface="Calibri"/>
                <a:sym typeface="Calibri"/>
              </a:rPr>
              <a:t>Founded with a mission to bridge technology and education, it serves thousands of students and institutions nationwide.</a:t>
            </a:r>
            <a:endParaRPr sz="1100">
              <a:solidFill>
                <a:schemeClr val="dk1"/>
              </a:solidFill>
              <a:latin typeface="Calibri"/>
              <a:ea typeface="Calibri"/>
              <a:cs typeface="Calibri"/>
              <a:sym typeface="Calibri"/>
            </a:endParaRPr>
          </a:p>
        </p:txBody>
      </p:sp>
      <p:sp>
        <p:nvSpPr>
          <p:cNvPr id="71" name="Google Shape;71;p5"/>
          <p:cNvSpPr/>
          <p:nvPr/>
        </p:nvSpPr>
        <p:spPr>
          <a:xfrm>
            <a:off x="475488" y="3694176"/>
            <a:ext cx="4352544"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1D9E6"/>
              </a:buClr>
              <a:buSzPts val="1100"/>
              <a:buFont typeface="Calibri"/>
              <a:buNone/>
            </a:pPr>
            <a:r>
              <a:rPr lang="en-US" sz="1100">
                <a:solidFill>
                  <a:srgbClr val="D1D9E6"/>
                </a:solidFill>
                <a:latin typeface="Calibri"/>
                <a:ea typeface="Calibri"/>
                <a:cs typeface="Calibri"/>
                <a:sym typeface="Calibri"/>
              </a:rPr>
              <a:t>The company invests in cutting-edge R&amp;D, ensuring learners and educators benefit from the latest AI-driven insights and personalised experiences.</a:t>
            </a:r>
            <a:endParaRPr sz="1100">
              <a:solidFill>
                <a:schemeClr val="dk1"/>
              </a:solidFill>
              <a:latin typeface="Calibri"/>
              <a:ea typeface="Calibri"/>
              <a:cs typeface="Calibri"/>
              <a:sym typeface="Calibri"/>
            </a:endParaRPr>
          </a:p>
        </p:txBody>
      </p:sp>
      <p:sp>
        <p:nvSpPr>
          <p:cNvPr id="72" name="Google Shape;72;p5"/>
          <p:cNvSpPr/>
          <p:nvPr/>
        </p:nvSpPr>
        <p:spPr>
          <a:xfrm>
            <a:off x="5138928" y="1078992"/>
            <a:ext cx="3749040" cy="182880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5138928" y="1078992"/>
            <a:ext cx="109728" cy="18288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340096" y="1170432"/>
            <a:ext cx="34564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Key Services</a:t>
            </a:r>
            <a:endParaRPr sz="1150">
              <a:solidFill>
                <a:schemeClr val="dk1"/>
              </a:solidFill>
              <a:latin typeface="Calibri"/>
              <a:ea typeface="Calibri"/>
              <a:cs typeface="Calibri"/>
              <a:sym typeface="Calibri"/>
            </a:endParaRPr>
          </a:p>
        </p:txBody>
      </p:sp>
      <p:sp>
        <p:nvSpPr>
          <p:cNvPr id="75" name="Google Shape;75;p5"/>
          <p:cNvSpPr/>
          <p:nvPr/>
        </p:nvSpPr>
        <p:spPr>
          <a:xfrm>
            <a:off x="5340096" y="1517904"/>
            <a:ext cx="3456432" cy="1298448"/>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AI-driven personalised learning platforms</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Student performance &amp; progress analytics</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Curriculum recommendation engines</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LMS integration &amp; academic reporting tools</a:t>
            </a:r>
            <a:endParaRPr sz="1200">
              <a:solidFill>
                <a:schemeClr val="dk1"/>
              </a:solidFill>
              <a:latin typeface="Calibri"/>
              <a:ea typeface="Calibri"/>
              <a:cs typeface="Calibri"/>
              <a:sym typeface="Calibri"/>
            </a:endParaRPr>
          </a:p>
        </p:txBody>
      </p:sp>
      <p:sp>
        <p:nvSpPr>
          <p:cNvPr id="76" name="Google Shape;76;p5"/>
          <p:cNvSpPr/>
          <p:nvPr/>
        </p:nvSpPr>
        <p:spPr>
          <a:xfrm>
            <a:off x="5138928" y="3108960"/>
            <a:ext cx="3749040" cy="182880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5138928" y="3108960"/>
            <a:ext cx="109728" cy="18288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5340096" y="3200400"/>
            <a:ext cx="345643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Internship Structure</a:t>
            </a:r>
            <a:endParaRPr sz="1150">
              <a:solidFill>
                <a:schemeClr val="dk1"/>
              </a:solidFill>
              <a:latin typeface="Calibri"/>
              <a:ea typeface="Calibri"/>
              <a:cs typeface="Calibri"/>
              <a:sym typeface="Calibri"/>
            </a:endParaRPr>
          </a:p>
        </p:txBody>
      </p:sp>
      <p:sp>
        <p:nvSpPr>
          <p:cNvPr id="79" name="Google Shape;79;p5"/>
          <p:cNvSpPr/>
          <p:nvPr/>
        </p:nvSpPr>
        <p:spPr>
          <a:xfrm>
            <a:off x="5340096" y="3547872"/>
            <a:ext cx="3456432" cy="1298448"/>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Week 1–2: Onboarding &amp; domain training</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Week 3–6: Project development &amp; mentorship</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Week 7–8: Testing, review &amp; finalisation</a:t>
            </a:r>
            <a:endParaRPr sz="1200">
              <a:solidFill>
                <a:schemeClr val="dk1"/>
              </a:solidFill>
              <a:latin typeface="Calibri"/>
              <a:ea typeface="Calibri"/>
              <a:cs typeface="Calibri"/>
              <a:sym typeface="Calibri"/>
            </a:endParaRPr>
          </a:p>
          <a:p>
            <a:pPr indent="-342900" lvl="0" marL="342900" marR="0" rtl="0" algn="l">
              <a:spcBef>
                <a:spcPts val="500"/>
              </a:spcBef>
              <a:spcAft>
                <a:spcPts val="0"/>
              </a:spcAft>
              <a:buClr>
                <a:srgbClr val="1A202C"/>
              </a:buClr>
              <a:buSzPts val="1200"/>
              <a:buFont typeface="Calibri"/>
              <a:buChar char="•"/>
            </a:pPr>
            <a:r>
              <a:rPr lang="en-US" sz="1200">
                <a:solidFill>
                  <a:srgbClr val="1A202C"/>
                </a:solidFill>
                <a:latin typeface="Calibri"/>
                <a:ea typeface="Calibri"/>
                <a:cs typeface="Calibri"/>
                <a:sym typeface="Calibri"/>
              </a:rPr>
              <a:t>Week 9: Final presentation &amp; evaluation</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84" name="Shape 84"/>
        <p:cNvGrpSpPr/>
        <p:nvPr/>
      </p:nvGrpSpPr>
      <p:grpSpPr>
        <a:xfrm>
          <a:off x="0" y="0"/>
          <a:ext cx="0" cy="0"/>
          <a:chOff x="0" y="0"/>
          <a:chExt cx="0" cy="0"/>
        </a:xfrm>
      </p:grpSpPr>
      <p:sp>
        <p:nvSpPr>
          <p:cNvPr id="85" name="Google Shape;85;p6"/>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6"/>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89" name="Google Shape;89;p6"/>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Objectives</a:t>
            </a:r>
            <a:endParaRPr sz="2400">
              <a:solidFill>
                <a:schemeClr val="dk1"/>
              </a:solidFill>
              <a:latin typeface="Calibri"/>
              <a:ea typeface="Calibri"/>
              <a:cs typeface="Calibri"/>
              <a:sym typeface="Calibri"/>
            </a:endParaRPr>
          </a:p>
        </p:txBody>
      </p:sp>
      <p:sp>
        <p:nvSpPr>
          <p:cNvPr id="90" name="Google Shape;90;p6"/>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4 / 10</a:t>
            </a:r>
            <a:endParaRPr sz="900">
              <a:solidFill>
                <a:schemeClr val="dk1"/>
              </a:solidFill>
              <a:latin typeface="Calibri"/>
              <a:ea typeface="Calibri"/>
              <a:cs typeface="Calibri"/>
              <a:sym typeface="Calibri"/>
            </a:endParaRPr>
          </a:p>
        </p:txBody>
      </p:sp>
      <p:pic>
        <p:nvPicPr>
          <p:cNvPr descr="/home/claude/logo_nobg.png" id="91" name="Google Shape;91;p6"/>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92" name="Google Shape;92;p6"/>
          <p:cNvSpPr/>
          <p:nvPr/>
        </p:nvSpPr>
        <p:spPr>
          <a:xfrm>
            <a:off x="256032"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6"/>
          <p:cNvSpPr/>
          <p:nvPr/>
        </p:nvSpPr>
        <p:spPr>
          <a:xfrm>
            <a:off x="256032" y="1078992"/>
            <a:ext cx="2834640" cy="1005840"/>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1261872" y="1216152"/>
            <a:ext cx="749808" cy="749808"/>
          </a:xfrm>
          <a:prstGeom prst="ellipse">
            <a:avLst/>
          </a:prstGeom>
          <a:solidFill>
            <a:srgbClr val="3AACF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6"/>
          <p:cNvPicPr preferRelativeResize="0"/>
          <p:nvPr/>
        </p:nvPicPr>
        <p:blipFill rotWithShape="1">
          <a:blip r:embed="rId5">
            <a:alphaModFix/>
          </a:blip>
          <a:srcRect b="0" l="0" r="0" t="0"/>
          <a:stretch/>
        </p:blipFill>
        <p:spPr>
          <a:xfrm>
            <a:off x="1362456" y="1316736"/>
            <a:ext cx="548640" cy="548640"/>
          </a:xfrm>
          <a:prstGeom prst="rect">
            <a:avLst/>
          </a:prstGeom>
          <a:noFill/>
          <a:ln>
            <a:noFill/>
          </a:ln>
        </p:spPr>
      </p:pic>
      <p:sp>
        <p:nvSpPr>
          <p:cNvPr id="96" name="Google Shape;96;p6"/>
          <p:cNvSpPr/>
          <p:nvPr/>
        </p:nvSpPr>
        <p:spPr>
          <a:xfrm>
            <a:off x="347472" y="21031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C6E"/>
              </a:buClr>
              <a:buSzPts val="1200"/>
              <a:buFont typeface="Calibri"/>
              <a:buNone/>
            </a:pPr>
            <a:r>
              <a:rPr b="1" lang="en-US" sz="1200">
                <a:solidFill>
                  <a:srgbClr val="1A3C6E"/>
                </a:solidFill>
                <a:latin typeface="Calibri"/>
                <a:ea typeface="Calibri"/>
                <a:cs typeface="Calibri"/>
                <a:sym typeface="Calibri"/>
              </a:rPr>
              <a:t>Learning Goals</a:t>
            </a:r>
            <a:endParaRPr sz="1200">
              <a:solidFill>
                <a:schemeClr val="dk1"/>
              </a:solidFill>
              <a:latin typeface="Calibri"/>
              <a:ea typeface="Calibri"/>
              <a:cs typeface="Calibri"/>
              <a:sym typeface="Calibri"/>
            </a:endParaRPr>
          </a:p>
        </p:txBody>
      </p:sp>
      <p:sp>
        <p:nvSpPr>
          <p:cNvPr id="97" name="Google Shape;97;p6"/>
          <p:cNvSpPr/>
          <p:nvPr/>
        </p:nvSpPr>
        <p:spPr>
          <a:xfrm>
            <a:off x="438912" y="2496312"/>
            <a:ext cx="2468880" cy="241401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Understand AI/ML project lifecycle end-to-end</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Gain domain expertise in EdTech analytics</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Apply theoretical models to real datasets</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Develop structured problem-solving skills</a:t>
            </a:r>
            <a:endParaRPr sz="1150">
              <a:solidFill>
                <a:schemeClr val="dk1"/>
              </a:solidFill>
              <a:latin typeface="Calibri"/>
              <a:ea typeface="Calibri"/>
              <a:cs typeface="Calibri"/>
              <a:sym typeface="Calibri"/>
            </a:endParaRPr>
          </a:p>
        </p:txBody>
      </p:sp>
      <p:sp>
        <p:nvSpPr>
          <p:cNvPr id="98" name="Google Shape;98;p6"/>
          <p:cNvSpPr/>
          <p:nvPr/>
        </p:nvSpPr>
        <p:spPr>
          <a:xfrm>
            <a:off x="3218688"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3218688" y="1078992"/>
            <a:ext cx="2834640" cy="1005840"/>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4224528" y="1216152"/>
            <a:ext cx="749808" cy="749808"/>
          </a:xfrm>
          <a:prstGeom prst="ellipse">
            <a:avLst/>
          </a:prstGeom>
          <a:solidFill>
            <a:srgbClr val="3AACF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1" name="Google Shape;101;p6"/>
          <p:cNvPicPr preferRelativeResize="0"/>
          <p:nvPr/>
        </p:nvPicPr>
        <p:blipFill rotWithShape="1">
          <a:blip r:embed="rId6">
            <a:alphaModFix/>
          </a:blip>
          <a:srcRect b="0" l="0" r="0" t="0"/>
          <a:stretch/>
        </p:blipFill>
        <p:spPr>
          <a:xfrm>
            <a:off x="4325112" y="1316736"/>
            <a:ext cx="548640" cy="548640"/>
          </a:xfrm>
          <a:prstGeom prst="rect">
            <a:avLst/>
          </a:prstGeom>
          <a:noFill/>
          <a:ln>
            <a:noFill/>
          </a:ln>
        </p:spPr>
      </p:pic>
      <p:sp>
        <p:nvSpPr>
          <p:cNvPr id="102" name="Google Shape;102;p6"/>
          <p:cNvSpPr/>
          <p:nvPr/>
        </p:nvSpPr>
        <p:spPr>
          <a:xfrm>
            <a:off x="3310128" y="21031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C6E"/>
              </a:buClr>
              <a:buSzPts val="1200"/>
              <a:buFont typeface="Calibri"/>
              <a:buNone/>
            </a:pPr>
            <a:r>
              <a:rPr b="1" lang="en-US" sz="1200">
                <a:solidFill>
                  <a:srgbClr val="1A3C6E"/>
                </a:solidFill>
                <a:latin typeface="Calibri"/>
                <a:ea typeface="Calibri"/>
                <a:cs typeface="Calibri"/>
                <a:sym typeface="Calibri"/>
              </a:rPr>
              <a:t>Technical Development</a:t>
            </a:r>
            <a:endParaRPr sz="1200">
              <a:solidFill>
                <a:schemeClr val="dk1"/>
              </a:solidFill>
              <a:latin typeface="Calibri"/>
              <a:ea typeface="Calibri"/>
              <a:cs typeface="Calibri"/>
              <a:sym typeface="Calibri"/>
            </a:endParaRPr>
          </a:p>
        </p:txBody>
      </p:sp>
      <p:sp>
        <p:nvSpPr>
          <p:cNvPr id="103" name="Google Shape;103;p6"/>
          <p:cNvSpPr/>
          <p:nvPr/>
        </p:nvSpPr>
        <p:spPr>
          <a:xfrm>
            <a:off x="3401568" y="2496312"/>
            <a:ext cx="2468880" cy="241401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Build predictive models using Python</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Master data wrangling with Pandas &amp; NumPy</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Design interactive dashboards in Power BI</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Practice version control using Git &amp; GitHub</a:t>
            </a:r>
            <a:endParaRPr sz="1150">
              <a:solidFill>
                <a:schemeClr val="dk1"/>
              </a:solidFill>
              <a:latin typeface="Calibri"/>
              <a:ea typeface="Calibri"/>
              <a:cs typeface="Calibri"/>
              <a:sym typeface="Calibri"/>
            </a:endParaRPr>
          </a:p>
        </p:txBody>
      </p:sp>
      <p:sp>
        <p:nvSpPr>
          <p:cNvPr id="104" name="Google Shape;104;p6"/>
          <p:cNvSpPr/>
          <p:nvPr/>
        </p:nvSpPr>
        <p:spPr>
          <a:xfrm>
            <a:off x="6181344"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6181344" y="1078992"/>
            <a:ext cx="2834640" cy="1005840"/>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6"/>
          <p:cNvSpPr/>
          <p:nvPr/>
        </p:nvSpPr>
        <p:spPr>
          <a:xfrm>
            <a:off x="7187184" y="1216152"/>
            <a:ext cx="749808" cy="749808"/>
          </a:xfrm>
          <a:prstGeom prst="ellipse">
            <a:avLst/>
          </a:prstGeom>
          <a:solidFill>
            <a:srgbClr val="3AACF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6"/>
          <p:cNvPicPr preferRelativeResize="0"/>
          <p:nvPr/>
        </p:nvPicPr>
        <p:blipFill rotWithShape="1">
          <a:blip r:embed="rId7">
            <a:alphaModFix/>
          </a:blip>
          <a:srcRect b="0" l="0" r="0" t="0"/>
          <a:stretch/>
        </p:blipFill>
        <p:spPr>
          <a:xfrm>
            <a:off x="7287768" y="1316736"/>
            <a:ext cx="548640" cy="548640"/>
          </a:xfrm>
          <a:prstGeom prst="rect">
            <a:avLst/>
          </a:prstGeom>
          <a:noFill/>
          <a:ln>
            <a:noFill/>
          </a:ln>
        </p:spPr>
      </p:pic>
      <p:sp>
        <p:nvSpPr>
          <p:cNvPr id="108" name="Google Shape;108;p6"/>
          <p:cNvSpPr/>
          <p:nvPr/>
        </p:nvSpPr>
        <p:spPr>
          <a:xfrm>
            <a:off x="6272784" y="21031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C6E"/>
              </a:buClr>
              <a:buSzPts val="1200"/>
              <a:buFont typeface="Calibri"/>
              <a:buNone/>
            </a:pPr>
            <a:r>
              <a:rPr b="1" lang="en-US" sz="1200">
                <a:solidFill>
                  <a:srgbClr val="1A3C6E"/>
                </a:solidFill>
                <a:latin typeface="Calibri"/>
                <a:ea typeface="Calibri"/>
                <a:cs typeface="Calibri"/>
                <a:sym typeface="Calibri"/>
              </a:rPr>
              <a:t>Project Objectives</a:t>
            </a:r>
            <a:endParaRPr sz="1200">
              <a:solidFill>
                <a:schemeClr val="dk1"/>
              </a:solidFill>
              <a:latin typeface="Calibri"/>
              <a:ea typeface="Calibri"/>
              <a:cs typeface="Calibri"/>
              <a:sym typeface="Calibri"/>
            </a:endParaRPr>
          </a:p>
        </p:txBody>
      </p:sp>
      <p:sp>
        <p:nvSpPr>
          <p:cNvPr id="109" name="Google Shape;109;p6"/>
          <p:cNvSpPr/>
          <p:nvPr/>
        </p:nvSpPr>
        <p:spPr>
          <a:xfrm>
            <a:off x="6364224" y="2496312"/>
            <a:ext cx="2468880" cy="2414016"/>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Identify key drivers of student performance</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Achieve ≥ 90% model accuracy on test data</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Deliver actionable insights to stakeholders</a:t>
            </a:r>
            <a:endParaRPr sz="1150">
              <a:solidFill>
                <a:schemeClr val="dk1"/>
              </a:solidFill>
              <a:latin typeface="Calibri"/>
              <a:ea typeface="Calibri"/>
              <a:cs typeface="Calibri"/>
              <a:sym typeface="Calibri"/>
            </a:endParaRPr>
          </a:p>
          <a:p>
            <a:pPr indent="-342900" lvl="0" marL="342900" marR="0" rtl="0" algn="l">
              <a:spcBef>
                <a:spcPts val="1700"/>
              </a:spcBef>
              <a:spcAft>
                <a:spcPts val="0"/>
              </a:spcAft>
              <a:buClr>
                <a:srgbClr val="1A202C"/>
              </a:buClr>
              <a:buSzPts val="1150"/>
              <a:buFont typeface="Calibri"/>
              <a:buChar char="•"/>
            </a:pPr>
            <a:r>
              <a:rPr lang="en-US" sz="1150">
                <a:solidFill>
                  <a:srgbClr val="1A202C"/>
                </a:solidFill>
                <a:latin typeface="Calibri"/>
                <a:ea typeface="Calibri"/>
                <a:cs typeface="Calibri"/>
                <a:sym typeface="Calibri"/>
              </a:rPr>
              <a:t>Complete all deliverables within schedule</a:t>
            </a:r>
            <a:endParaRPr sz="11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14" name="Shape 114"/>
        <p:cNvGrpSpPr/>
        <p:nvPr/>
      </p:nvGrpSpPr>
      <p:grpSpPr>
        <a:xfrm>
          <a:off x="0" y="0"/>
          <a:ext cx="0" cy="0"/>
          <a:chOff x="0" y="0"/>
          <a:chExt cx="0" cy="0"/>
        </a:xfrm>
      </p:grpSpPr>
      <p:sp>
        <p:nvSpPr>
          <p:cNvPr id="115" name="Google Shape;115;p7"/>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7"/>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8" name="Google Shape;118;p7"/>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119" name="Google Shape;119;p7"/>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Project Overview</a:t>
            </a:r>
            <a:endParaRPr sz="2400">
              <a:solidFill>
                <a:schemeClr val="dk1"/>
              </a:solidFill>
              <a:latin typeface="Calibri"/>
              <a:ea typeface="Calibri"/>
              <a:cs typeface="Calibri"/>
              <a:sym typeface="Calibri"/>
            </a:endParaRPr>
          </a:p>
        </p:txBody>
      </p:sp>
      <p:sp>
        <p:nvSpPr>
          <p:cNvPr id="120" name="Google Shape;120;p7"/>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5 / 10</a:t>
            </a:r>
            <a:endParaRPr sz="900">
              <a:solidFill>
                <a:schemeClr val="dk1"/>
              </a:solidFill>
              <a:latin typeface="Calibri"/>
              <a:ea typeface="Calibri"/>
              <a:cs typeface="Calibri"/>
              <a:sym typeface="Calibri"/>
            </a:endParaRPr>
          </a:p>
        </p:txBody>
      </p:sp>
      <p:pic>
        <p:nvPicPr>
          <p:cNvPr descr="/home/claude/logo_nobg.png" id="121" name="Google Shape;121;p7"/>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122" name="Google Shape;122;p7"/>
          <p:cNvSpPr/>
          <p:nvPr/>
        </p:nvSpPr>
        <p:spPr>
          <a:xfrm>
            <a:off x="256032" y="1078992"/>
            <a:ext cx="4937760" cy="3858768"/>
          </a:xfrm>
          <a:prstGeom prst="rect">
            <a:avLst/>
          </a:prstGeom>
          <a:solidFill>
            <a:srgbClr val="1A3C6E"/>
          </a:solidFill>
          <a:ln>
            <a:noFill/>
          </a:ln>
          <a:effectLst>
            <a:outerShdw blurRad="1270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p:nvPr/>
        </p:nvSpPr>
        <p:spPr>
          <a:xfrm>
            <a:off x="256032" y="1078992"/>
            <a:ext cx="109728" cy="3858768"/>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475488" y="1216152"/>
            <a:ext cx="462686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AACF0"/>
              </a:buClr>
              <a:buSzPts val="1300"/>
              <a:buFont typeface="Calibri"/>
              <a:buNone/>
            </a:pPr>
            <a:r>
              <a:rPr b="1" lang="en-US" sz="1300">
                <a:solidFill>
                  <a:srgbClr val="3AACF0"/>
                </a:solidFill>
                <a:latin typeface="Calibri"/>
                <a:ea typeface="Calibri"/>
                <a:cs typeface="Calibri"/>
                <a:sym typeface="Calibri"/>
              </a:rPr>
              <a:t>Problem Statement</a:t>
            </a:r>
            <a:endParaRPr sz="1300">
              <a:solidFill>
                <a:schemeClr val="dk1"/>
              </a:solidFill>
              <a:latin typeface="Calibri"/>
              <a:ea typeface="Calibri"/>
              <a:cs typeface="Calibri"/>
              <a:sym typeface="Calibri"/>
            </a:endParaRPr>
          </a:p>
        </p:txBody>
      </p:sp>
      <p:sp>
        <p:nvSpPr>
          <p:cNvPr id="125" name="Google Shape;125;p7"/>
          <p:cNvSpPr/>
          <p:nvPr/>
        </p:nvSpPr>
        <p:spPr>
          <a:xfrm>
            <a:off x="475488" y="1609344"/>
            <a:ext cx="4626864" cy="74980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lang="en-US" sz="1100">
                <a:solidFill>
                  <a:srgbClr val="FFFFFF"/>
                </a:solidFill>
                <a:latin typeface="Calibri"/>
                <a:ea typeface="Calibri"/>
                <a:cs typeface="Calibri"/>
                <a:sym typeface="Calibri"/>
              </a:rPr>
              <a:t>Cryptocurrency prices fluctuate rapidly due to market demand, investor sentiment, and global economic conditions. Manual analysis is difficult because of the large amount of historical market data. This project develops an LSTM-based prediction system that learns historical price patterns and forecasts future Bitcoin prices to support investment decisions. </a:t>
            </a:r>
            <a:endParaRPr sz="1100">
              <a:solidFill>
                <a:schemeClr val="dk1"/>
              </a:solidFill>
              <a:latin typeface="Calibri"/>
              <a:ea typeface="Calibri"/>
              <a:cs typeface="Calibri"/>
              <a:sym typeface="Calibri"/>
            </a:endParaRPr>
          </a:p>
        </p:txBody>
      </p:sp>
      <p:sp>
        <p:nvSpPr>
          <p:cNvPr id="126" name="Google Shape;126;p7"/>
          <p:cNvSpPr/>
          <p:nvPr/>
        </p:nvSpPr>
        <p:spPr>
          <a:xfrm>
            <a:off x="5394960" y="1078992"/>
            <a:ext cx="3493008" cy="182880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5394960" y="1078992"/>
            <a:ext cx="109728" cy="18288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5596128" y="1170432"/>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Scope</a:t>
            </a:r>
            <a:endParaRPr sz="1150">
              <a:solidFill>
                <a:schemeClr val="dk1"/>
              </a:solidFill>
              <a:latin typeface="Calibri"/>
              <a:ea typeface="Calibri"/>
              <a:cs typeface="Calibri"/>
              <a:sym typeface="Calibri"/>
            </a:endParaRPr>
          </a:p>
        </p:txBody>
      </p:sp>
      <p:sp>
        <p:nvSpPr>
          <p:cNvPr id="129" name="Google Shape;129;p7"/>
          <p:cNvSpPr/>
          <p:nvPr/>
        </p:nvSpPr>
        <p:spPr>
          <a:xfrm>
            <a:off x="5596128" y="1517904"/>
            <a:ext cx="3200400" cy="12984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Historical Bitcoin Dataset</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Yahoo Finance API</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Time-Series Prediction</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LSTM Neural Network</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Streamlit Web Application</a:t>
            </a:r>
            <a:endParaRPr sz="1200">
              <a:solidFill>
                <a:srgbClr val="1A202C"/>
              </a:solidFill>
              <a:latin typeface="Calibri"/>
              <a:ea typeface="Calibri"/>
              <a:cs typeface="Calibri"/>
              <a:sym typeface="Calibri"/>
            </a:endParaRPr>
          </a:p>
          <a:p>
            <a:pPr indent="0" lvl="0" marL="0" marR="0" rtl="0" algn="l">
              <a:spcBef>
                <a:spcPts val="0"/>
              </a:spcBef>
              <a:spcAft>
                <a:spcPts val="0"/>
              </a:spcAft>
              <a:buNone/>
            </a:pPr>
            <a:r>
              <a:t/>
            </a:r>
            <a:endParaRPr sz="1200">
              <a:solidFill>
                <a:srgbClr val="1A202C"/>
              </a:solidFill>
              <a:latin typeface="Calibri"/>
              <a:ea typeface="Calibri"/>
              <a:cs typeface="Calibri"/>
              <a:sym typeface="Calibri"/>
            </a:endParaRPr>
          </a:p>
        </p:txBody>
      </p:sp>
      <p:sp>
        <p:nvSpPr>
          <p:cNvPr id="130" name="Google Shape;130;p7"/>
          <p:cNvSpPr/>
          <p:nvPr/>
        </p:nvSpPr>
        <p:spPr>
          <a:xfrm>
            <a:off x="5394960" y="3108960"/>
            <a:ext cx="3493008" cy="1828800"/>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5394960" y="3108960"/>
            <a:ext cx="109728" cy="18288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5596128" y="3200400"/>
            <a:ext cx="3200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50"/>
              <a:buFont typeface="Calibri"/>
              <a:buNone/>
            </a:pPr>
            <a:r>
              <a:rPr b="1" lang="en-US" sz="1150">
                <a:solidFill>
                  <a:srgbClr val="1A3C6E"/>
                </a:solidFill>
                <a:latin typeface="Calibri"/>
                <a:ea typeface="Calibri"/>
                <a:cs typeface="Calibri"/>
                <a:sym typeface="Calibri"/>
              </a:rPr>
              <a:t>Approach</a:t>
            </a:r>
            <a:endParaRPr sz="1150">
              <a:solidFill>
                <a:schemeClr val="dk1"/>
              </a:solidFill>
              <a:latin typeface="Calibri"/>
              <a:ea typeface="Calibri"/>
              <a:cs typeface="Calibri"/>
              <a:sym typeface="Calibri"/>
            </a:endParaRPr>
          </a:p>
        </p:txBody>
      </p:sp>
      <p:sp>
        <p:nvSpPr>
          <p:cNvPr id="133" name="Google Shape;133;p7"/>
          <p:cNvSpPr/>
          <p:nvPr/>
        </p:nvSpPr>
        <p:spPr>
          <a:xfrm>
            <a:off x="5596128" y="3547872"/>
            <a:ext cx="3200400" cy="1298448"/>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Data Collection</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Data Preprocessing</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Feature Scaling</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Sliding Window Technique</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LSTM Model Training</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Price Prediction</a:t>
            </a:r>
            <a:endParaRPr sz="1200">
              <a:solidFill>
                <a:srgbClr val="1A202C"/>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1A202C"/>
                </a:solidFill>
                <a:latin typeface="Calibri"/>
                <a:ea typeface="Calibri"/>
                <a:cs typeface="Calibri"/>
                <a:sym typeface="Calibri"/>
              </a:rPr>
              <a:t>Performance Evaluation</a:t>
            </a:r>
            <a:endParaRPr sz="1200">
              <a:solidFill>
                <a:srgbClr val="1A202C"/>
              </a:solidFill>
              <a:latin typeface="Calibri"/>
              <a:ea typeface="Calibri"/>
              <a:cs typeface="Calibri"/>
              <a:sym typeface="Calibri"/>
            </a:endParaRPr>
          </a:p>
          <a:p>
            <a:pPr indent="0" lvl="0" marL="0" marR="0" rtl="0" algn="l">
              <a:spcBef>
                <a:spcPts val="0"/>
              </a:spcBef>
              <a:spcAft>
                <a:spcPts val="0"/>
              </a:spcAft>
              <a:buNone/>
            </a:pPr>
            <a:r>
              <a:t/>
            </a:r>
            <a:endParaRPr sz="1200">
              <a:solidFill>
                <a:srgbClr val="1A202C"/>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38" name="Shape 138"/>
        <p:cNvGrpSpPr/>
        <p:nvPr/>
      </p:nvGrpSpPr>
      <p:grpSpPr>
        <a:xfrm>
          <a:off x="0" y="0"/>
          <a:ext cx="0" cy="0"/>
          <a:chOff x="0" y="0"/>
          <a:chExt cx="0" cy="0"/>
        </a:xfrm>
      </p:grpSpPr>
      <p:sp>
        <p:nvSpPr>
          <p:cNvPr id="139" name="Google Shape;139;p8"/>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8"/>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143" name="Google Shape;143;p8"/>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Methodology</a:t>
            </a:r>
            <a:endParaRPr sz="2400">
              <a:solidFill>
                <a:schemeClr val="dk1"/>
              </a:solidFill>
              <a:latin typeface="Calibri"/>
              <a:ea typeface="Calibri"/>
              <a:cs typeface="Calibri"/>
              <a:sym typeface="Calibri"/>
            </a:endParaRPr>
          </a:p>
        </p:txBody>
      </p:sp>
      <p:sp>
        <p:nvSpPr>
          <p:cNvPr id="144" name="Google Shape;144;p8"/>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6 / 10</a:t>
            </a:r>
            <a:endParaRPr sz="900">
              <a:solidFill>
                <a:schemeClr val="dk1"/>
              </a:solidFill>
              <a:latin typeface="Calibri"/>
              <a:ea typeface="Calibri"/>
              <a:cs typeface="Calibri"/>
              <a:sym typeface="Calibri"/>
            </a:endParaRPr>
          </a:p>
        </p:txBody>
      </p:sp>
      <p:pic>
        <p:nvPicPr>
          <p:cNvPr descr="/home/claude/logo_nobg.png" id="145" name="Google Shape;145;p8"/>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146" name="Google Shape;146;p8"/>
          <p:cNvSpPr/>
          <p:nvPr/>
        </p:nvSpPr>
        <p:spPr>
          <a:xfrm>
            <a:off x="256032" y="1078992"/>
            <a:ext cx="201168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256032" y="1078992"/>
            <a:ext cx="2011680" cy="658368"/>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301752" y="1115568"/>
            <a:ext cx="621792"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ACF0"/>
              </a:buClr>
              <a:buSzPts val="2400"/>
              <a:buFont typeface="Calibri"/>
              <a:buNone/>
            </a:pPr>
            <a:r>
              <a:rPr b="1" lang="en-US" sz="2400">
                <a:solidFill>
                  <a:srgbClr val="3AACF0"/>
                </a:solidFill>
                <a:latin typeface="Calibri"/>
                <a:ea typeface="Calibri"/>
                <a:cs typeface="Calibri"/>
                <a:sym typeface="Calibri"/>
              </a:rPr>
              <a:t>01</a:t>
            </a:r>
            <a:endParaRPr sz="2400">
              <a:solidFill>
                <a:schemeClr val="dk1"/>
              </a:solidFill>
              <a:latin typeface="Calibri"/>
              <a:ea typeface="Calibri"/>
              <a:cs typeface="Calibri"/>
              <a:sym typeface="Calibri"/>
            </a:endParaRPr>
          </a:p>
        </p:txBody>
      </p:sp>
      <p:sp>
        <p:nvSpPr>
          <p:cNvPr id="149" name="Google Shape;149;p8"/>
          <p:cNvSpPr/>
          <p:nvPr/>
        </p:nvSpPr>
        <p:spPr>
          <a:xfrm>
            <a:off x="914400" y="1115568"/>
            <a:ext cx="1298448"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Data Collection</a:t>
            </a:r>
            <a:endParaRPr sz="1000">
              <a:solidFill>
                <a:schemeClr val="dk1"/>
              </a:solidFill>
              <a:latin typeface="Calibri"/>
              <a:ea typeface="Calibri"/>
              <a:cs typeface="Calibri"/>
              <a:sym typeface="Calibri"/>
            </a:endParaRPr>
          </a:p>
        </p:txBody>
      </p:sp>
      <p:sp>
        <p:nvSpPr>
          <p:cNvPr id="150" name="Google Shape;150;p8"/>
          <p:cNvSpPr/>
          <p:nvPr/>
        </p:nvSpPr>
        <p:spPr>
          <a:xfrm>
            <a:off x="393192" y="1828800"/>
            <a:ext cx="1737360" cy="3090672"/>
          </a:xfrm>
          <a:prstGeom prst="rect">
            <a:avLst/>
          </a:prstGeom>
          <a:noFill/>
          <a:ln>
            <a:noFill/>
          </a:ln>
        </p:spPr>
        <p:txBody>
          <a:bodyPr anchorCtr="0" anchor="ctr" bIns="0" lIns="0" spcFirstLastPara="1" rIns="0" wrap="square" tIns="0">
            <a:noAutofit/>
          </a:bodyPr>
          <a:lstStyle/>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Download Bitcoin </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historical data</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Yahoo Finance API</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CSV Dataset</a:t>
            </a:r>
            <a:endParaRPr sz="1000">
              <a:solidFill>
                <a:srgbClr val="1A202C"/>
              </a:solidFill>
              <a:latin typeface="Calibri"/>
              <a:ea typeface="Calibri"/>
              <a:cs typeface="Calibri"/>
              <a:sym typeface="Calibri"/>
            </a:endParaRPr>
          </a:p>
          <a:p>
            <a:pPr indent="0" lvl="0" marL="0" marR="0" rtl="0" algn="l">
              <a:spcBef>
                <a:spcPts val="0"/>
              </a:spcBef>
              <a:spcAft>
                <a:spcPts val="0"/>
              </a:spcAft>
              <a:buNone/>
            </a:pPr>
            <a:r>
              <a:t/>
            </a:r>
            <a:endParaRPr sz="1000">
              <a:solidFill>
                <a:srgbClr val="1A202C"/>
              </a:solidFill>
              <a:latin typeface="Calibri"/>
              <a:ea typeface="Calibri"/>
              <a:cs typeface="Calibri"/>
              <a:sym typeface="Calibri"/>
            </a:endParaRPr>
          </a:p>
        </p:txBody>
      </p:sp>
      <p:sp>
        <p:nvSpPr>
          <p:cNvPr id="151" name="Google Shape;151;p8"/>
          <p:cNvSpPr/>
          <p:nvPr/>
        </p:nvSpPr>
        <p:spPr>
          <a:xfrm>
            <a:off x="2432304" y="1078992"/>
            <a:ext cx="201168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2432304" y="1078992"/>
            <a:ext cx="2011680" cy="658368"/>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2478024" y="1115568"/>
            <a:ext cx="621792"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ACF0"/>
              </a:buClr>
              <a:buSzPts val="2400"/>
              <a:buFont typeface="Calibri"/>
              <a:buNone/>
            </a:pPr>
            <a:r>
              <a:rPr b="1" lang="en-US" sz="2400">
                <a:solidFill>
                  <a:srgbClr val="3AACF0"/>
                </a:solidFill>
                <a:latin typeface="Calibri"/>
                <a:ea typeface="Calibri"/>
                <a:cs typeface="Calibri"/>
                <a:sym typeface="Calibri"/>
              </a:rPr>
              <a:t>02</a:t>
            </a:r>
            <a:endParaRPr sz="2400">
              <a:solidFill>
                <a:schemeClr val="dk1"/>
              </a:solidFill>
              <a:latin typeface="Calibri"/>
              <a:ea typeface="Calibri"/>
              <a:cs typeface="Calibri"/>
              <a:sym typeface="Calibri"/>
            </a:endParaRPr>
          </a:p>
        </p:txBody>
      </p:sp>
      <p:sp>
        <p:nvSpPr>
          <p:cNvPr id="154" name="Google Shape;154;p8"/>
          <p:cNvSpPr/>
          <p:nvPr/>
        </p:nvSpPr>
        <p:spPr>
          <a:xfrm>
            <a:off x="3090672" y="1115568"/>
            <a:ext cx="1298448"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Data Preprocessing</a:t>
            </a:r>
            <a:endParaRPr sz="1000">
              <a:solidFill>
                <a:schemeClr val="dk1"/>
              </a:solidFill>
              <a:latin typeface="Calibri"/>
              <a:ea typeface="Calibri"/>
              <a:cs typeface="Calibri"/>
              <a:sym typeface="Calibri"/>
            </a:endParaRPr>
          </a:p>
        </p:txBody>
      </p:sp>
      <p:sp>
        <p:nvSpPr>
          <p:cNvPr id="155" name="Google Shape;155;p8"/>
          <p:cNvSpPr/>
          <p:nvPr/>
        </p:nvSpPr>
        <p:spPr>
          <a:xfrm>
            <a:off x="2569464" y="1828800"/>
            <a:ext cx="1737360" cy="3090672"/>
          </a:xfrm>
          <a:prstGeom prst="rect">
            <a:avLst/>
          </a:prstGeom>
          <a:noFill/>
          <a:ln>
            <a:noFill/>
          </a:ln>
        </p:spPr>
        <p:txBody>
          <a:bodyPr anchorCtr="0" anchor="ctr" bIns="0" lIns="0" spcFirstLastPara="1" rIns="0" wrap="square" tIns="0">
            <a:noAutofit/>
          </a:bodyPr>
          <a:lstStyle/>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Missing value handling</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0" lvl="0" marL="0" rtl="0" algn="l">
              <a:spcBef>
                <a:spcPts val="0"/>
              </a:spcBef>
              <a:spcAft>
                <a:spcPts val="0"/>
              </a:spcAft>
              <a:buNone/>
            </a:pPr>
            <a:r>
              <a:t/>
            </a:r>
            <a:endParaRPr sz="1000">
              <a:solidFill>
                <a:srgbClr val="1A202C"/>
              </a:solidFill>
              <a:latin typeface="Calibri"/>
              <a:ea typeface="Calibri"/>
              <a:cs typeface="Calibri"/>
              <a:sym typeface="Calibri"/>
            </a:endParaRPr>
          </a:p>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Feature Scaling</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0" lvl="0" marL="457200" rtl="0" algn="l">
              <a:spcBef>
                <a:spcPts val="0"/>
              </a:spcBef>
              <a:spcAft>
                <a:spcPts val="0"/>
              </a:spcAft>
              <a:buNone/>
            </a:pPr>
            <a:r>
              <a:t/>
            </a:r>
            <a:endParaRPr sz="1000">
              <a:solidFill>
                <a:srgbClr val="1A202C"/>
              </a:solidFill>
              <a:latin typeface="Calibri"/>
              <a:ea typeface="Calibri"/>
              <a:cs typeface="Calibri"/>
              <a:sym typeface="Calibri"/>
            </a:endParaRPr>
          </a:p>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 (MinMaxScaler)</a:t>
            </a:r>
            <a:endParaRPr sz="1000">
              <a:solidFill>
                <a:srgbClr val="1A202C"/>
              </a:solidFill>
              <a:latin typeface="Calibri"/>
              <a:ea typeface="Calibri"/>
              <a:cs typeface="Calibri"/>
              <a:sym typeface="Calibri"/>
            </a:endParaRPr>
          </a:p>
          <a:p>
            <a:pPr indent="0" lvl="0" marL="0" rtl="0" algn="l">
              <a:spcBef>
                <a:spcPts val="0"/>
              </a:spcBef>
              <a:spcAft>
                <a:spcPts val="0"/>
              </a:spcAft>
              <a:buNone/>
            </a:pPr>
            <a:r>
              <a:t/>
            </a:r>
            <a:endParaRPr sz="1000">
              <a:solidFill>
                <a:srgbClr val="1A202C"/>
              </a:solidFill>
              <a:latin typeface="Calibri"/>
              <a:ea typeface="Calibri"/>
              <a:cs typeface="Calibri"/>
              <a:sym typeface="Calibri"/>
            </a:endParaRPr>
          </a:p>
          <a:p>
            <a:pPr indent="0" lvl="0" marL="0" rtl="0" algn="l">
              <a:spcBef>
                <a:spcPts val="0"/>
              </a:spcBef>
              <a:spcAft>
                <a:spcPts val="0"/>
              </a:spcAft>
              <a:buNone/>
            </a:pPr>
            <a:r>
              <a:t/>
            </a:r>
            <a:endParaRPr sz="1000">
              <a:solidFill>
                <a:srgbClr val="1A202C"/>
              </a:solidFill>
              <a:latin typeface="Calibri"/>
              <a:ea typeface="Calibri"/>
              <a:cs typeface="Calibri"/>
              <a:sym typeface="Calibri"/>
            </a:endParaRPr>
          </a:p>
          <a:p>
            <a:pPr indent="-292100" lvl="0" marL="457200" rtl="0" algn="l">
              <a:spcBef>
                <a:spcPts val="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Sliding Window Creation</a:t>
            </a:r>
            <a:endParaRPr sz="1000">
              <a:solidFill>
                <a:srgbClr val="1A202C"/>
              </a:solidFill>
              <a:latin typeface="Calibri"/>
              <a:ea typeface="Calibri"/>
              <a:cs typeface="Calibri"/>
              <a:sym typeface="Calibri"/>
            </a:endParaRPr>
          </a:p>
          <a:p>
            <a:pPr indent="0" lvl="0" marL="457200" marR="0" rtl="0" algn="l">
              <a:spcBef>
                <a:spcPts val="0"/>
              </a:spcBef>
              <a:spcAft>
                <a:spcPts val="0"/>
              </a:spcAft>
              <a:buNone/>
            </a:pPr>
            <a:r>
              <a:t/>
            </a:r>
            <a:endParaRPr sz="1000">
              <a:solidFill>
                <a:srgbClr val="1A202C"/>
              </a:solidFill>
              <a:latin typeface="Calibri"/>
              <a:ea typeface="Calibri"/>
              <a:cs typeface="Calibri"/>
              <a:sym typeface="Calibri"/>
            </a:endParaRPr>
          </a:p>
        </p:txBody>
      </p:sp>
      <p:sp>
        <p:nvSpPr>
          <p:cNvPr id="156" name="Google Shape;156;p8"/>
          <p:cNvSpPr/>
          <p:nvPr/>
        </p:nvSpPr>
        <p:spPr>
          <a:xfrm>
            <a:off x="4608576" y="1078992"/>
            <a:ext cx="201168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4608576" y="1078992"/>
            <a:ext cx="2011680" cy="658368"/>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4654296" y="1115568"/>
            <a:ext cx="621792"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ACF0"/>
              </a:buClr>
              <a:buSzPts val="2400"/>
              <a:buFont typeface="Calibri"/>
              <a:buNone/>
            </a:pPr>
            <a:r>
              <a:rPr b="1" lang="en-US" sz="2400">
                <a:solidFill>
                  <a:srgbClr val="3AACF0"/>
                </a:solidFill>
                <a:latin typeface="Calibri"/>
                <a:ea typeface="Calibri"/>
                <a:cs typeface="Calibri"/>
                <a:sym typeface="Calibri"/>
              </a:rPr>
              <a:t>03</a:t>
            </a:r>
            <a:endParaRPr sz="2400">
              <a:solidFill>
                <a:schemeClr val="dk1"/>
              </a:solidFill>
              <a:latin typeface="Calibri"/>
              <a:ea typeface="Calibri"/>
              <a:cs typeface="Calibri"/>
              <a:sym typeface="Calibri"/>
            </a:endParaRPr>
          </a:p>
        </p:txBody>
      </p:sp>
      <p:sp>
        <p:nvSpPr>
          <p:cNvPr id="159" name="Google Shape;159;p8"/>
          <p:cNvSpPr/>
          <p:nvPr/>
        </p:nvSpPr>
        <p:spPr>
          <a:xfrm>
            <a:off x="5266944" y="1115568"/>
            <a:ext cx="1298448"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Model Development</a:t>
            </a:r>
            <a:endParaRPr sz="1000">
              <a:solidFill>
                <a:schemeClr val="dk1"/>
              </a:solidFill>
              <a:latin typeface="Calibri"/>
              <a:ea typeface="Calibri"/>
              <a:cs typeface="Calibri"/>
              <a:sym typeface="Calibri"/>
            </a:endParaRPr>
          </a:p>
        </p:txBody>
      </p:sp>
      <p:sp>
        <p:nvSpPr>
          <p:cNvPr id="160" name="Google Shape;160;p8"/>
          <p:cNvSpPr/>
          <p:nvPr/>
        </p:nvSpPr>
        <p:spPr>
          <a:xfrm>
            <a:off x="4745736" y="1828800"/>
            <a:ext cx="1737360" cy="3090672"/>
          </a:xfrm>
          <a:prstGeom prst="rect">
            <a:avLst/>
          </a:prstGeom>
          <a:noFill/>
          <a:ln>
            <a:noFill/>
          </a:ln>
        </p:spPr>
        <p:txBody>
          <a:bodyPr anchorCtr="0" anchor="ctr" bIns="0" lIns="0" spcFirstLastPara="1" rIns="0" wrap="square" tIns="0">
            <a:noAutofit/>
          </a:bodyPr>
          <a:lstStyle/>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LSTM Neural Network</a:t>
            </a:r>
            <a:endParaRPr sz="1000">
              <a:solidFill>
                <a:srgbClr val="1A202C"/>
              </a:solidFill>
              <a:latin typeface="Calibri"/>
              <a:ea typeface="Calibri"/>
              <a:cs typeface="Calibri"/>
              <a:sym typeface="Calibri"/>
            </a:endParaRPr>
          </a:p>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TensorFlow &amp; Keras</a:t>
            </a:r>
            <a:endParaRPr sz="1000">
              <a:solidFill>
                <a:srgbClr val="1A202C"/>
              </a:solidFill>
              <a:latin typeface="Calibri"/>
              <a:ea typeface="Calibri"/>
              <a:cs typeface="Calibri"/>
              <a:sym typeface="Calibri"/>
            </a:endParaRPr>
          </a:p>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Adam Optimizer</a:t>
            </a:r>
            <a:endParaRPr sz="1000">
              <a:solidFill>
                <a:srgbClr val="1A202C"/>
              </a:solidFill>
              <a:latin typeface="Calibri"/>
              <a:ea typeface="Calibri"/>
              <a:cs typeface="Calibri"/>
              <a:sym typeface="Calibri"/>
            </a:endParaRPr>
          </a:p>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Dropout Layers</a:t>
            </a:r>
            <a:endParaRPr sz="1000">
              <a:solidFill>
                <a:srgbClr val="1A202C"/>
              </a:solidFill>
              <a:latin typeface="Calibri"/>
              <a:ea typeface="Calibri"/>
              <a:cs typeface="Calibri"/>
              <a:sym typeface="Calibri"/>
            </a:endParaRPr>
          </a:p>
          <a:p>
            <a:pPr indent="0" lvl="0" marL="457200" marR="0" rtl="0" algn="l">
              <a:spcBef>
                <a:spcPts val="2500"/>
              </a:spcBef>
              <a:spcAft>
                <a:spcPts val="0"/>
              </a:spcAft>
              <a:buNone/>
            </a:pPr>
            <a:r>
              <a:t/>
            </a:r>
            <a:endParaRPr sz="1000">
              <a:solidFill>
                <a:srgbClr val="1A202C"/>
              </a:solidFill>
              <a:latin typeface="Calibri"/>
              <a:ea typeface="Calibri"/>
              <a:cs typeface="Calibri"/>
              <a:sym typeface="Calibri"/>
            </a:endParaRPr>
          </a:p>
        </p:txBody>
      </p:sp>
      <p:sp>
        <p:nvSpPr>
          <p:cNvPr id="161" name="Google Shape;161;p8"/>
          <p:cNvSpPr/>
          <p:nvPr/>
        </p:nvSpPr>
        <p:spPr>
          <a:xfrm>
            <a:off x="6784848" y="1078992"/>
            <a:ext cx="201168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6784848" y="1078992"/>
            <a:ext cx="2011680" cy="658368"/>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6830568" y="1115568"/>
            <a:ext cx="621792" cy="58521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AACF0"/>
              </a:buClr>
              <a:buSzPts val="2400"/>
              <a:buFont typeface="Calibri"/>
              <a:buNone/>
            </a:pPr>
            <a:r>
              <a:rPr b="1" lang="en-US" sz="2400">
                <a:solidFill>
                  <a:srgbClr val="3AACF0"/>
                </a:solidFill>
                <a:latin typeface="Calibri"/>
                <a:ea typeface="Calibri"/>
                <a:cs typeface="Calibri"/>
                <a:sym typeface="Calibri"/>
              </a:rPr>
              <a:t>04</a:t>
            </a:r>
            <a:endParaRPr sz="2400">
              <a:solidFill>
                <a:schemeClr val="dk1"/>
              </a:solidFill>
              <a:latin typeface="Calibri"/>
              <a:ea typeface="Calibri"/>
              <a:cs typeface="Calibri"/>
              <a:sym typeface="Calibri"/>
            </a:endParaRPr>
          </a:p>
        </p:txBody>
      </p:sp>
      <p:sp>
        <p:nvSpPr>
          <p:cNvPr id="164" name="Google Shape;164;p8"/>
          <p:cNvSpPr/>
          <p:nvPr/>
        </p:nvSpPr>
        <p:spPr>
          <a:xfrm>
            <a:off x="7443216" y="1115568"/>
            <a:ext cx="1298448" cy="5852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Testing &amp; Validation</a:t>
            </a:r>
            <a:endParaRPr sz="1000">
              <a:solidFill>
                <a:schemeClr val="dk1"/>
              </a:solidFill>
              <a:latin typeface="Calibri"/>
              <a:ea typeface="Calibri"/>
              <a:cs typeface="Calibri"/>
              <a:sym typeface="Calibri"/>
            </a:endParaRPr>
          </a:p>
        </p:txBody>
      </p:sp>
      <p:sp>
        <p:nvSpPr>
          <p:cNvPr id="165" name="Google Shape;165;p8"/>
          <p:cNvSpPr/>
          <p:nvPr/>
        </p:nvSpPr>
        <p:spPr>
          <a:xfrm>
            <a:off x="6922008" y="1828800"/>
            <a:ext cx="1737360" cy="3090672"/>
          </a:xfrm>
          <a:prstGeom prst="rect">
            <a:avLst/>
          </a:prstGeom>
          <a:noFill/>
          <a:ln>
            <a:noFill/>
          </a:ln>
        </p:spPr>
        <p:txBody>
          <a:bodyPr anchorCtr="0" anchor="ctr" bIns="0" lIns="0" spcFirstLastPara="1" rIns="0" wrap="square" tIns="0">
            <a:noAutofit/>
          </a:bodyPr>
          <a:lstStyle/>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Model Prediction</a:t>
            </a:r>
            <a:endParaRPr sz="1000">
              <a:solidFill>
                <a:srgbClr val="1A202C"/>
              </a:solidFill>
              <a:latin typeface="Calibri"/>
              <a:ea typeface="Calibri"/>
              <a:cs typeface="Calibri"/>
              <a:sym typeface="Calibri"/>
            </a:endParaRPr>
          </a:p>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RMSE Evaluation</a:t>
            </a:r>
            <a:endParaRPr sz="1000">
              <a:solidFill>
                <a:srgbClr val="1A202C"/>
              </a:solidFill>
              <a:latin typeface="Calibri"/>
              <a:ea typeface="Calibri"/>
              <a:cs typeface="Calibri"/>
              <a:sym typeface="Calibri"/>
            </a:endParaRPr>
          </a:p>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Actual vs Predicted Graph</a:t>
            </a:r>
            <a:endParaRPr sz="1000">
              <a:solidFill>
                <a:srgbClr val="1A202C"/>
              </a:solidFill>
              <a:latin typeface="Calibri"/>
              <a:ea typeface="Calibri"/>
              <a:cs typeface="Calibri"/>
              <a:sym typeface="Calibri"/>
            </a:endParaRPr>
          </a:p>
          <a:p>
            <a:pPr indent="-292100" lvl="0" marL="457200" rtl="0" algn="l">
              <a:spcBef>
                <a:spcPts val="2500"/>
              </a:spcBef>
              <a:spcAft>
                <a:spcPts val="0"/>
              </a:spcAft>
              <a:buClr>
                <a:srgbClr val="1A202C"/>
              </a:buClr>
              <a:buSzPts val="1000"/>
              <a:buFont typeface="Calibri"/>
              <a:buChar char="•"/>
            </a:pPr>
            <a:r>
              <a:rPr lang="en-US" sz="1000">
                <a:solidFill>
                  <a:srgbClr val="1A202C"/>
                </a:solidFill>
                <a:latin typeface="Calibri"/>
                <a:ea typeface="Calibri"/>
                <a:cs typeface="Calibri"/>
                <a:sym typeface="Calibri"/>
              </a:rPr>
              <a:t>Streamlit Deployment</a:t>
            </a:r>
            <a:endParaRPr sz="1000">
              <a:solidFill>
                <a:srgbClr val="1A202C"/>
              </a:solidFill>
              <a:latin typeface="Calibri"/>
              <a:ea typeface="Calibri"/>
              <a:cs typeface="Calibri"/>
              <a:sym typeface="Calibri"/>
            </a:endParaRPr>
          </a:p>
          <a:p>
            <a:pPr indent="0" lvl="0" marL="457200" marR="0" rtl="0" algn="l">
              <a:spcBef>
                <a:spcPts val="2500"/>
              </a:spcBef>
              <a:spcAft>
                <a:spcPts val="0"/>
              </a:spcAft>
              <a:buNone/>
            </a:pPr>
            <a:r>
              <a:t/>
            </a:r>
            <a:endParaRPr sz="1000">
              <a:solidFill>
                <a:srgbClr val="1A202C"/>
              </a:solidFill>
              <a:latin typeface="Calibri"/>
              <a:ea typeface="Calibri"/>
              <a:cs typeface="Calibri"/>
              <a:sym typeface="Calibri"/>
            </a:endParaRPr>
          </a:p>
        </p:txBody>
      </p:sp>
      <p:cxnSp>
        <p:nvCxnSpPr>
          <p:cNvPr id="166" name="Google Shape;166;p8"/>
          <p:cNvCxnSpPr/>
          <p:nvPr/>
        </p:nvCxnSpPr>
        <p:spPr>
          <a:xfrm>
            <a:off x="2267712" y="1408176"/>
            <a:ext cx="164592" cy="0"/>
          </a:xfrm>
          <a:prstGeom prst="straightConnector1">
            <a:avLst/>
          </a:prstGeom>
          <a:noFill/>
          <a:ln cap="flat" cmpd="sng" w="25400">
            <a:solidFill>
              <a:srgbClr val="3AACF0"/>
            </a:solidFill>
            <a:prstDash val="solid"/>
            <a:round/>
            <a:headEnd len="sm" w="sm" type="none"/>
            <a:tailEnd len="sm" w="sm" type="none"/>
          </a:ln>
        </p:spPr>
      </p:cxnSp>
      <p:cxnSp>
        <p:nvCxnSpPr>
          <p:cNvPr id="167" name="Google Shape;167;p8"/>
          <p:cNvCxnSpPr/>
          <p:nvPr/>
        </p:nvCxnSpPr>
        <p:spPr>
          <a:xfrm>
            <a:off x="4443984" y="1408176"/>
            <a:ext cx="164592" cy="0"/>
          </a:xfrm>
          <a:prstGeom prst="straightConnector1">
            <a:avLst/>
          </a:prstGeom>
          <a:noFill/>
          <a:ln cap="flat" cmpd="sng" w="25400">
            <a:solidFill>
              <a:srgbClr val="3AACF0"/>
            </a:solidFill>
            <a:prstDash val="solid"/>
            <a:round/>
            <a:headEnd len="sm" w="sm" type="none"/>
            <a:tailEnd len="sm" w="sm" type="none"/>
          </a:ln>
        </p:spPr>
      </p:cxnSp>
      <p:cxnSp>
        <p:nvCxnSpPr>
          <p:cNvPr id="168" name="Google Shape;168;p8"/>
          <p:cNvCxnSpPr/>
          <p:nvPr/>
        </p:nvCxnSpPr>
        <p:spPr>
          <a:xfrm>
            <a:off x="6620256" y="1408176"/>
            <a:ext cx="164592" cy="0"/>
          </a:xfrm>
          <a:prstGeom prst="straightConnector1">
            <a:avLst/>
          </a:prstGeom>
          <a:noFill/>
          <a:ln cap="flat" cmpd="sng" w="25400">
            <a:solidFill>
              <a:srgbClr val="3AACF0"/>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173" name="Shape 173"/>
        <p:cNvGrpSpPr/>
        <p:nvPr/>
      </p:nvGrpSpPr>
      <p:grpSpPr>
        <a:xfrm>
          <a:off x="0" y="0"/>
          <a:ext cx="0" cy="0"/>
          <a:chOff x="0" y="0"/>
          <a:chExt cx="0" cy="0"/>
        </a:xfrm>
      </p:grpSpPr>
      <p:sp>
        <p:nvSpPr>
          <p:cNvPr id="174" name="Google Shape;174;p9"/>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9"/>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7" name="Google Shape;177;p9"/>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178" name="Google Shape;178;p9"/>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Tools &amp; Technologies</a:t>
            </a:r>
            <a:endParaRPr sz="2400">
              <a:solidFill>
                <a:schemeClr val="dk1"/>
              </a:solidFill>
              <a:latin typeface="Calibri"/>
              <a:ea typeface="Calibri"/>
              <a:cs typeface="Calibri"/>
              <a:sym typeface="Calibri"/>
            </a:endParaRPr>
          </a:p>
        </p:txBody>
      </p:sp>
      <p:sp>
        <p:nvSpPr>
          <p:cNvPr id="179" name="Google Shape;179;p9"/>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7 / 10</a:t>
            </a:r>
            <a:endParaRPr sz="900">
              <a:solidFill>
                <a:schemeClr val="dk1"/>
              </a:solidFill>
              <a:latin typeface="Calibri"/>
              <a:ea typeface="Calibri"/>
              <a:cs typeface="Calibri"/>
              <a:sym typeface="Calibri"/>
            </a:endParaRPr>
          </a:p>
        </p:txBody>
      </p:sp>
      <p:pic>
        <p:nvPicPr>
          <p:cNvPr descr="/home/claude/logo_nobg.png" id="180" name="Google Shape;180;p9"/>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181" name="Google Shape;181;p9"/>
          <p:cNvSpPr/>
          <p:nvPr/>
        </p:nvSpPr>
        <p:spPr>
          <a:xfrm>
            <a:off x="256032"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256032" y="1078992"/>
            <a:ext cx="2834640" cy="694944"/>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
          <p:cNvSpPr/>
          <p:nvPr/>
        </p:nvSpPr>
        <p:spPr>
          <a:xfrm>
            <a:off x="384048" y="1170432"/>
            <a:ext cx="512064" cy="512064"/>
          </a:xfrm>
          <a:prstGeom prst="ellipse">
            <a:avLst/>
          </a:pr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4" name="Google Shape;184;p9"/>
          <p:cNvPicPr preferRelativeResize="0"/>
          <p:nvPr/>
        </p:nvPicPr>
        <p:blipFill rotWithShape="1">
          <a:blip r:embed="rId5">
            <a:alphaModFix/>
          </a:blip>
          <a:srcRect b="0" l="0" r="0" t="0"/>
          <a:stretch/>
        </p:blipFill>
        <p:spPr>
          <a:xfrm>
            <a:off x="429768" y="1216152"/>
            <a:ext cx="420624" cy="420624"/>
          </a:xfrm>
          <a:prstGeom prst="rect">
            <a:avLst/>
          </a:prstGeom>
          <a:noFill/>
          <a:ln>
            <a:noFill/>
          </a:ln>
        </p:spPr>
      </p:pic>
      <p:sp>
        <p:nvSpPr>
          <p:cNvPr id="185" name="Google Shape;185;p9"/>
          <p:cNvSpPr/>
          <p:nvPr/>
        </p:nvSpPr>
        <p:spPr>
          <a:xfrm>
            <a:off x="1024128" y="1078992"/>
            <a:ext cx="1993392"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Programming &amp; Data</a:t>
            </a:r>
            <a:endParaRPr sz="1100">
              <a:solidFill>
                <a:schemeClr val="dk1"/>
              </a:solidFill>
              <a:latin typeface="Calibri"/>
              <a:ea typeface="Calibri"/>
              <a:cs typeface="Calibri"/>
              <a:sym typeface="Calibri"/>
            </a:endParaRPr>
          </a:p>
        </p:txBody>
      </p:sp>
      <p:sp>
        <p:nvSpPr>
          <p:cNvPr id="186" name="Google Shape;186;p9"/>
          <p:cNvSpPr/>
          <p:nvPr/>
        </p:nvSpPr>
        <p:spPr>
          <a:xfrm>
            <a:off x="420624" y="188366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p:nvPr/>
        </p:nvSpPr>
        <p:spPr>
          <a:xfrm>
            <a:off x="420624" y="1883664"/>
            <a:ext cx="91440" cy="667512"/>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420624" y="266090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9"/>
          <p:cNvSpPr/>
          <p:nvPr/>
        </p:nvSpPr>
        <p:spPr>
          <a:xfrm>
            <a:off x="420624" y="2660904"/>
            <a:ext cx="91440" cy="667512"/>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420624" y="343814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
          <p:cNvSpPr/>
          <p:nvPr/>
        </p:nvSpPr>
        <p:spPr>
          <a:xfrm>
            <a:off x="420624" y="3438144"/>
            <a:ext cx="91440" cy="667512"/>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420624" y="421538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420624" y="4215384"/>
            <a:ext cx="91440" cy="667512"/>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3218688"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3218688" y="1078992"/>
            <a:ext cx="2834640" cy="694944"/>
          </a:xfrm>
          <a:prstGeom prst="rect">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p:nvPr/>
        </p:nvSpPr>
        <p:spPr>
          <a:xfrm>
            <a:off x="3346704" y="1170432"/>
            <a:ext cx="512064" cy="512064"/>
          </a:xfrm>
          <a:prstGeom prst="ellipse">
            <a:avLst/>
          </a:pr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7" name="Google Shape;197;p9"/>
          <p:cNvPicPr preferRelativeResize="0"/>
          <p:nvPr/>
        </p:nvPicPr>
        <p:blipFill rotWithShape="1">
          <a:blip r:embed="rId6">
            <a:alphaModFix/>
          </a:blip>
          <a:srcRect b="0" l="0" r="0" t="0"/>
          <a:stretch/>
        </p:blipFill>
        <p:spPr>
          <a:xfrm>
            <a:off x="3392424" y="1216152"/>
            <a:ext cx="420624" cy="420624"/>
          </a:xfrm>
          <a:prstGeom prst="rect">
            <a:avLst/>
          </a:prstGeom>
          <a:noFill/>
          <a:ln>
            <a:noFill/>
          </a:ln>
        </p:spPr>
      </p:pic>
      <p:sp>
        <p:nvSpPr>
          <p:cNvPr id="198" name="Google Shape;198;p9"/>
          <p:cNvSpPr/>
          <p:nvPr/>
        </p:nvSpPr>
        <p:spPr>
          <a:xfrm>
            <a:off x="3986784" y="1078992"/>
            <a:ext cx="1993392"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Visualisation</a:t>
            </a:r>
            <a:endParaRPr sz="1100">
              <a:solidFill>
                <a:schemeClr val="dk1"/>
              </a:solidFill>
              <a:latin typeface="Calibri"/>
              <a:ea typeface="Calibri"/>
              <a:cs typeface="Calibri"/>
              <a:sym typeface="Calibri"/>
            </a:endParaRPr>
          </a:p>
        </p:txBody>
      </p:sp>
      <p:sp>
        <p:nvSpPr>
          <p:cNvPr id="199" name="Google Shape;199;p9"/>
          <p:cNvSpPr/>
          <p:nvPr/>
        </p:nvSpPr>
        <p:spPr>
          <a:xfrm>
            <a:off x="3383280" y="188366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3383280" y="1883664"/>
            <a:ext cx="91440" cy="667512"/>
          </a:xfrm>
          <a:prstGeom prst="rect">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9"/>
          <p:cNvSpPr/>
          <p:nvPr/>
        </p:nvSpPr>
        <p:spPr>
          <a:xfrm>
            <a:off x="3547872" y="1883664"/>
            <a:ext cx="2322600" cy="66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50"/>
              <a:buFont typeface="Calibri"/>
              <a:buNone/>
            </a:pPr>
            <a:r>
              <a:rPr lang="en-US" sz="1150">
                <a:solidFill>
                  <a:srgbClr val="1A202C"/>
                </a:solidFill>
                <a:latin typeface="Calibri"/>
                <a:ea typeface="Calibri"/>
                <a:cs typeface="Calibri"/>
                <a:sym typeface="Calibri"/>
              </a:rPr>
              <a:t>Matplotlib </a:t>
            </a:r>
            <a:endParaRPr sz="1150">
              <a:solidFill>
                <a:schemeClr val="dk1"/>
              </a:solidFill>
              <a:latin typeface="Calibri"/>
              <a:ea typeface="Calibri"/>
              <a:cs typeface="Calibri"/>
              <a:sym typeface="Calibri"/>
            </a:endParaRPr>
          </a:p>
        </p:txBody>
      </p:sp>
      <p:sp>
        <p:nvSpPr>
          <p:cNvPr id="202" name="Google Shape;202;p9"/>
          <p:cNvSpPr/>
          <p:nvPr/>
        </p:nvSpPr>
        <p:spPr>
          <a:xfrm>
            <a:off x="3383280" y="266090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3383280" y="2660904"/>
            <a:ext cx="91440" cy="667512"/>
          </a:xfrm>
          <a:prstGeom prst="rect">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3547872" y="2660904"/>
            <a:ext cx="2322600" cy="66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50"/>
              <a:buFont typeface="Calibri"/>
              <a:buNone/>
            </a:pPr>
            <a:r>
              <a:rPr lang="en-US" sz="1150">
                <a:solidFill>
                  <a:srgbClr val="1A202C"/>
                </a:solidFill>
                <a:latin typeface="Calibri"/>
                <a:ea typeface="Calibri"/>
                <a:cs typeface="Calibri"/>
                <a:sym typeface="Calibri"/>
              </a:rPr>
              <a:t>Streamlit </a:t>
            </a:r>
            <a:endParaRPr sz="1150">
              <a:solidFill>
                <a:schemeClr val="dk1"/>
              </a:solidFill>
              <a:latin typeface="Calibri"/>
              <a:ea typeface="Calibri"/>
              <a:cs typeface="Calibri"/>
              <a:sym typeface="Calibri"/>
            </a:endParaRPr>
          </a:p>
        </p:txBody>
      </p:sp>
      <p:sp>
        <p:nvSpPr>
          <p:cNvPr id="205" name="Google Shape;205;p9"/>
          <p:cNvSpPr/>
          <p:nvPr/>
        </p:nvSpPr>
        <p:spPr>
          <a:xfrm>
            <a:off x="3383280" y="343814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9"/>
          <p:cNvSpPr/>
          <p:nvPr/>
        </p:nvSpPr>
        <p:spPr>
          <a:xfrm>
            <a:off x="3383280" y="3438144"/>
            <a:ext cx="91440" cy="667512"/>
          </a:xfrm>
          <a:prstGeom prst="rect">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9"/>
          <p:cNvSpPr/>
          <p:nvPr/>
        </p:nvSpPr>
        <p:spPr>
          <a:xfrm>
            <a:off x="3547872" y="3438144"/>
            <a:ext cx="2322576" cy="6675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50"/>
              <a:buFont typeface="Calibri"/>
              <a:buNone/>
            </a:pPr>
            <a:r>
              <a:rPr lang="en-US" sz="1150">
                <a:solidFill>
                  <a:srgbClr val="1A202C"/>
                </a:solidFill>
                <a:latin typeface="Calibri"/>
                <a:ea typeface="Calibri"/>
                <a:cs typeface="Calibri"/>
                <a:sym typeface="Calibri"/>
              </a:rPr>
              <a:t>Yahoo Finance API</a:t>
            </a:r>
            <a:endParaRPr sz="1150">
              <a:solidFill>
                <a:schemeClr val="dk1"/>
              </a:solidFill>
              <a:latin typeface="Calibri"/>
              <a:ea typeface="Calibri"/>
              <a:cs typeface="Calibri"/>
              <a:sym typeface="Calibri"/>
            </a:endParaRPr>
          </a:p>
        </p:txBody>
      </p:sp>
      <p:sp>
        <p:nvSpPr>
          <p:cNvPr id="208" name="Google Shape;208;p9"/>
          <p:cNvSpPr/>
          <p:nvPr/>
        </p:nvSpPr>
        <p:spPr>
          <a:xfrm>
            <a:off x="3383280" y="421538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9"/>
          <p:cNvSpPr/>
          <p:nvPr/>
        </p:nvSpPr>
        <p:spPr>
          <a:xfrm>
            <a:off x="3383280" y="4215384"/>
            <a:ext cx="91440" cy="667512"/>
          </a:xfrm>
          <a:prstGeom prst="rect">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181344" y="1078992"/>
            <a:ext cx="283464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6181344" y="1078992"/>
            <a:ext cx="2834640" cy="694944"/>
          </a:xfrm>
          <a:prstGeom prst="rect">
            <a:avLst/>
          </a:prstGeom>
          <a:solidFill>
            <a:srgbClr val="1A6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6309360" y="1170432"/>
            <a:ext cx="512064" cy="512064"/>
          </a:xfrm>
          <a:prstGeom prst="ellipse">
            <a:avLst/>
          </a:pr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3" name="Google Shape;213;p9"/>
          <p:cNvPicPr preferRelativeResize="0"/>
          <p:nvPr/>
        </p:nvPicPr>
        <p:blipFill rotWithShape="1">
          <a:blip r:embed="rId7">
            <a:alphaModFix/>
          </a:blip>
          <a:srcRect b="0" l="0" r="0" t="0"/>
          <a:stretch/>
        </p:blipFill>
        <p:spPr>
          <a:xfrm>
            <a:off x="6355080" y="1216152"/>
            <a:ext cx="420624" cy="420624"/>
          </a:xfrm>
          <a:prstGeom prst="rect">
            <a:avLst/>
          </a:prstGeom>
          <a:noFill/>
          <a:ln>
            <a:noFill/>
          </a:ln>
        </p:spPr>
      </p:pic>
      <p:sp>
        <p:nvSpPr>
          <p:cNvPr id="214" name="Google Shape;214;p9"/>
          <p:cNvSpPr/>
          <p:nvPr/>
        </p:nvSpPr>
        <p:spPr>
          <a:xfrm>
            <a:off x="6949440" y="1078992"/>
            <a:ext cx="1993392" cy="6949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Development &amp; Version Control</a:t>
            </a:r>
            <a:endParaRPr sz="1100">
              <a:solidFill>
                <a:schemeClr val="dk1"/>
              </a:solidFill>
              <a:latin typeface="Calibri"/>
              <a:ea typeface="Calibri"/>
              <a:cs typeface="Calibri"/>
              <a:sym typeface="Calibri"/>
            </a:endParaRPr>
          </a:p>
        </p:txBody>
      </p:sp>
      <p:sp>
        <p:nvSpPr>
          <p:cNvPr id="215" name="Google Shape;215;p9"/>
          <p:cNvSpPr/>
          <p:nvPr/>
        </p:nvSpPr>
        <p:spPr>
          <a:xfrm>
            <a:off x="6345936" y="188366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345936" y="1883664"/>
            <a:ext cx="91440" cy="667512"/>
          </a:xfrm>
          <a:prstGeom prst="rect">
            <a:avLst/>
          </a:prstGeom>
          <a:solidFill>
            <a:srgbClr val="1A6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6510528" y="1883664"/>
            <a:ext cx="2322576" cy="6675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50"/>
              <a:buFont typeface="Calibri"/>
              <a:buNone/>
            </a:pPr>
            <a:r>
              <a:rPr lang="en-US" sz="1150">
                <a:solidFill>
                  <a:srgbClr val="1A202C"/>
                </a:solidFill>
                <a:latin typeface="Calibri"/>
                <a:ea typeface="Calibri"/>
                <a:cs typeface="Calibri"/>
                <a:sym typeface="Calibri"/>
              </a:rPr>
              <a:t>Jupyter Notebook</a:t>
            </a:r>
            <a:endParaRPr sz="1150">
              <a:solidFill>
                <a:schemeClr val="dk1"/>
              </a:solidFill>
              <a:latin typeface="Calibri"/>
              <a:ea typeface="Calibri"/>
              <a:cs typeface="Calibri"/>
              <a:sym typeface="Calibri"/>
            </a:endParaRPr>
          </a:p>
        </p:txBody>
      </p:sp>
      <p:sp>
        <p:nvSpPr>
          <p:cNvPr id="218" name="Google Shape;218;p9"/>
          <p:cNvSpPr/>
          <p:nvPr/>
        </p:nvSpPr>
        <p:spPr>
          <a:xfrm>
            <a:off x="6345936" y="266090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
          <p:cNvSpPr/>
          <p:nvPr/>
        </p:nvSpPr>
        <p:spPr>
          <a:xfrm>
            <a:off x="6345936" y="2660904"/>
            <a:ext cx="91440" cy="667512"/>
          </a:xfrm>
          <a:prstGeom prst="rect">
            <a:avLst/>
          </a:prstGeom>
          <a:solidFill>
            <a:srgbClr val="1A6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9"/>
          <p:cNvSpPr/>
          <p:nvPr/>
        </p:nvSpPr>
        <p:spPr>
          <a:xfrm>
            <a:off x="6510528" y="2660904"/>
            <a:ext cx="2322576" cy="6675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50"/>
              <a:buFont typeface="Calibri"/>
              <a:buNone/>
            </a:pPr>
            <a:r>
              <a:rPr lang="en-US" sz="1150">
                <a:solidFill>
                  <a:srgbClr val="1A202C"/>
                </a:solidFill>
                <a:latin typeface="Calibri"/>
                <a:ea typeface="Calibri"/>
                <a:cs typeface="Calibri"/>
                <a:sym typeface="Calibri"/>
              </a:rPr>
              <a:t>VS Code</a:t>
            </a:r>
            <a:endParaRPr sz="1150">
              <a:solidFill>
                <a:schemeClr val="dk1"/>
              </a:solidFill>
              <a:latin typeface="Calibri"/>
              <a:ea typeface="Calibri"/>
              <a:cs typeface="Calibri"/>
              <a:sym typeface="Calibri"/>
            </a:endParaRPr>
          </a:p>
        </p:txBody>
      </p:sp>
      <p:sp>
        <p:nvSpPr>
          <p:cNvPr id="221" name="Google Shape;221;p9"/>
          <p:cNvSpPr/>
          <p:nvPr/>
        </p:nvSpPr>
        <p:spPr>
          <a:xfrm>
            <a:off x="6345936" y="343814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6345936" y="3438144"/>
            <a:ext cx="91440" cy="667512"/>
          </a:xfrm>
          <a:prstGeom prst="rect">
            <a:avLst/>
          </a:prstGeom>
          <a:solidFill>
            <a:srgbClr val="1A6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6510528" y="3438144"/>
            <a:ext cx="2322576" cy="6675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150"/>
              <a:buFont typeface="Calibri"/>
              <a:buNone/>
            </a:pPr>
            <a:r>
              <a:rPr lang="en-US" sz="1150">
                <a:solidFill>
                  <a:srgbClr val="1A202C"/>
                </a:solidFill>
                <a:latin typeface="Calibri"/>
                <a:ea typeface="Calibri"/>
                <a:cs typeface="Calibri"/>
                <a:sym typeface="Calibri"/>
              </a:rPr>
              <a:t>Git &amp; GitHub</a:t>
            </a:r>
            <a:endParaRPr sz="1150">
              <a:solidFill>
                <a:schemeClr val="dk1"/>
              </a:solidFill>
              <a:latin typeface="Calibri"/>
              <a:ea typeface="Calibri"/>
              <a:cs typeface="Calibri"/>
              <a:sym typeface="Calibri"/>
            </a:endParaRPr>
          </a:p>
        </p:txBody>
      </p:sp>
      <p:sp>
        <p:nvSpPr>
          <p:cNvPr id="224" name="Google Shape;224;p9"/>
          <p:cNvSpPr/>
          <p:nvPr/>
        </p:nvSpPr>
        <p:spPr>
          <a:xfrm>
            <a:off x="6345936" y="4215384"/>
            <a:ext cx="2505456" cy="667512"/>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9"/>
          <p:cNvSpPr/>
          <p:nvPr/>
        </p:nvSpPr>
        <p:spPr>
          <a:xfrm>
            <a:off x="6345936" y="4215384"/>
            <a:ext cx="91440" cy="667512"/>
          </a:xfrm>
          <a:prstGeom prst="rect">
            <a:avLst/>
          </a:prstGeom>
          <a:solidFill>
            <a:srgbClr val="1A6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txBox="1"/>
          <p:nvPr/>
        </p:nvSpPr>
        <p:spPr>
          <a:xfrm>
            <a:off x="520825" y="1922575"/>
            <a:ext cx="3000000" cy="281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Python</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TensorFlow</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rPr lang="en-US"/>
              <a:t>Keras</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rPr lang="en-US"/>
              <a:t>NumPy and Pandas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31" name="Shape 231"/>
        <p:cNvGrpSpPr/>
        <p:nvPr/>
      </p:nvGrpSpPr>
      <p:grpSpPr>
        <a:xfrm>
          <a:off x="0" y="0"/>
          <a:ext cx="0" cy="0"/>
          <a:chOff x="0" y="0"/>
          <a:chExt cx="0" cy="0"/>
        </a:xfrm>
      </p:grpSpPr>
      <p:sp>
        <p:nvSpPr>
          <p:cNvPr id="232" name="Google Shape;232;p10"/>
          <p:cNvSpPr/>
          <p:nvPr/>
        </p:nvSpPr>
        <p:spPr>
          <a:xfrm>
            <a:off x="0" y="0"/>
            <a:ext cx="9144000" cy="914400"/>
          </a:xfrm>
          <a:prstGeom prst="rect">
            <a:avLst/>
          </a:prstGeom>
          <a:solidFill>
            <a:srgbClr val="1A3C6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0"/>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5" name="Google Shape;235;p10"/>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236" name="Google Shape;236;p10"/>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OUTPUT </a:t>
            </a:r>
            <a:endParaRPr sz="2400">
              <a:solidFill>
                <a:schemeClr val="dk1"/>
              </a:solidFill>
              <a:latin typeface="Calibri"/>
              <a:ea typeface="Calibri"/>
              <a:cs typeface="Calibri"/>
              <a:sym typeface="Calibri"/>
            </a:endParaRPr>
          </a:p>
        </p:txBody>
      </p:sp>
      <p:sp>
        <p:nvSpPr>
          <p:cNvPr id="237" name="Google Shape;237;p10"/>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8 / 10</a:t>
            </a:r>
            <a:endParaRPr sz="900">
              <a:solidFill>
                <a:schemeClr val="dk1"/>
              </a:solidFill>
              <a:latin typeface="Calibri"/>
              <a:ea typeface="Calibri"/>
              <a:cs typeface="Calibri"/>
              <a:sym typeface="Calibri"/>
            </a:endParaRPr>
          </a:p>
        </p:txBody>
      </p:sp>
      <p:pic>
        <p:nvPicPr>
          <p:cNvPr descr="/home/claude/logo_nobg.png" id="238" name="Google Shape;238;p10"/>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239" name="Google Shape;239;p10"/>
          <p:cNvSpPr/>
          <p:nvPr/>
        </p:nvSpPr>
        <p:spPr>
          <a:xfrm>
            <a:off x="2016868" y="1078992"/>
            <a:ext cx="1073804"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400"/>
              <a:buFont typeface="Calibri"/>
              <a:buNone/>
            </a:pPr>
            <a:r>
              <a:t/>
            </a:r>
            <a:endParaRPr sz="3400">
              <a:solidFill>
                <a:schemeClr val="dk1"/>
              </a:solidFill>
              <a:latin typeface="Calibri"/>
              <a:ea typeface="Calibri"/>
              <a:cs typeface="Calibri"/>
              <a:sym typeface="Calibri"/>
            </a:endParaRPr>
          </a:p>
        </p:txBody>
      </p:sp>
      <p:sp>
        <p:nvSpPr>
          <p:cNvPr id="240" name="Google Shape;240;p10"/>
          <p:cNvSpPr/>
          <p:nvPr/>
        </p:nvSpPr>
        <p:spPr>
          <a:xfrm>
            <a:off x="256032" y="1700784"/>
            <a:ext cx="2834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241" name="Google Shape;241;p10"/>
          <p:cNvSpPr/>
          <p:nvPr/>
        </p:nvSpPr>
        <p:spPr>
          <a:xfrm>
            <a:off x="3218688" y="1078992"/>
            <a:ext cx="28346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400"/>
              <a:buFont typeface="Calibri"/>
              <a:buNone/>
            </a:pPr>
            <a:r>
              <a:t/>
            </a:r>
            <a:endParaRPr sz="3400">
              <a:solidFill>
                <a:schemeClr val="dk1"/>
              </a:solidFill>
              <a:latin typeface="Calibri"/>
              <a:ea typeface="Calibri"/>
              <a:cs typeface="Calibri"/>
              <a:sym typeface="Calibri"/>
            </a:endParaRPr>
          </a:p>
        </p:txBody>
      </p:sp>
      <p:sp>
        <p:nvSpPr>
          <p:cNvPr id="242" name="Google Shape;242;p10"/>
          <p:cNvSpPr/>
          <p:nvPr/>
        </p:nvSpPr>
        <p:spPr>
          <a:xfrm>
            <a:off x="3218688" y="1700784"/>
            <a:ext cx="2834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243" name="Google Shape;243;p10"/>
          <p:cNvSpPr/>
          <p:nvPr/>
        </p:nvSpPr>
        <p:spPr>
          <a:xfrm>
            <a:off x="6181344" y="1078992"/>
            <a:ext cx="283464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3400"/>
              <a:buFont typeface="Calibri"/>
              <a:buNone/>
            </a:pPr>
            <a:r>
              <a:t/>
            </a:r>
            <a:endParaRPr sz="3400">
              <a:solidFill>
                <a:schemeClr val="dk1"/>
              </a:solidFill>
              <a:latin typeface="Calibri"/>
              <a:ea typeface="Calibri"/>
              <a:cs typeface="Calibri"/>
              <a:sym typeface="Calibri"/>
            </a:endParaRPr>
          </a:p>
        </p:txBody>
      </p:sp>
      <p:sp>
        <p:nvSpPr>
          <p:cNvPr id="244" name="Google Shape;244;p10"/>
          <p:cNvSpPr/>
          <p:nvPr/>
        </p:nvSpPr>
        <p:spPr>
          <a:xfrm>
            <a:off x="6181344" y="1700784"/>
            <a:ext cx="283464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000"/>
              <a:buFont typeface="Calibri"/>
              <a:buNone/>
            </a:pPr>
            <a:r>
              <a:t/>
            </a:r>
            <a:endParaRPr sz="1000">
              <a:solidFill>
                <a:schemeClr val="dk1"/>
              </a:solidFill>
              <a:latin typeface="Calibri"/>
              <a:ea typeface="Calibri"/>
              <a:cs typeface="Calibri"/>
              <a:sym typeface="Calibri"/>
            </a:endParaRPr>
          </a:p>
        </p:txBody>
      </p:sp>
      <p:sp>
        <p:nvSpPr>
          <p:cNvPr id="245" name="Google Shape;245;p10"/>
          <p:cNvSpPr/>
          <p:nvPr/>
        </p:nvSpPr>
        <p:spPr>
          <a:xfrm>
            <a:off x="5852160" y="2286000"/>
            <a:ext cx="294436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sp>
        <p:nvSpPr>
          <p:cNvPr id="246" name="Google Shape;246;p10"/>
          <p:cNvSpPr/>
          <p:nvPr/>
        </p:nvSpPr>
        <p:spPr>
          <a:xfrm>
            <a:off x="2896881" y="1737360"/>
            <a:ext cx="7121409" cy="2276856"/>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latin typeface="Calibri"/>
                <a:ea typeface="Calibri"/>
                <a:cs typeface="Calibri"/>
                <a:sym typeface="Calibri"/>
              </a:rPr>
              <a:t>The project</a:t>
            </a:r>
            <a:endParaRPr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2400">
                <a:solidFill>
                  <a:schemeClr val="dk1"/>
                </a:solidFill>
                <a:latin typeface="Calibri"/>
                <a:ea typeface="Calibri"/>
                <a:cs typeface="Calibri"/>
                <a:sym typeface="Calibri"/>
              </a:rPr>
              <a:t> Downloads historical Bitcoin prices.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Preprocesses data using MinMaxScaler.</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Trains an LSTM model.</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Predicts future Bitcoin prices.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Displays prediction graph.</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Shows results on Streamlit Dashboard.</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(Insert screenshots)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Prediction Graph (prediction.png)</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Streamlit Dashboard</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US" sz="2400">
                <a:solidFill>
                  <a:schemeClr val="dk1"/>
                </a:solidFill>
                <a:latin typeface="Calibri"/>
                <a:ea typeface="Calibri"/>
                <a:cs typeface="Calibri"/>
                <a:sym typeface="Calibri"/>
              </a:rPr>
              <a:t> Model Training Output</a:t>
            </a:r>
            <a:endParaRPr sz="2400">
              <a:solidFill>
                <a:schemeClr val="dk1"/>
              </a:solidFill>
              <a:latin typeface="Calibri"/>
              <a:ea typeface="Calibri"/>
              <a:cs typeface="Calibri"/>
              <a:sym typeface="Calibri"/>
            </a:endParaRPr>
          </a:p>
          <a:p>
            <a:pPr indent="0" lvl="0" marL="0" marR="0" rtl="0" algn="l">
              <a:spcBef>
                <a:spcPts val="1200"/>
              </a:spcBef>
              <a:spcAft>
                <a:spcPts val="0"/>
              </a:spcAft>
              <a:buNone/>
            </a:pPr>
            <a:r>
              <a:t/>
            </a:r>
            <a:endParaRPr sz="2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A"/>
        </a:solidFill>
      </p:bgPr>
    </p:bg>
    <p:spTree>
      <p:nvGrpSpPr>
        <p:cNvPr id="251" name="Shape 251"/>
        <p:cNvGrpSpPr/>
        <p:nvPr/>
      </p:nvGrpSpPr>
      <p:grpSpPr>
        <a:xfrm>
          <a:off x="0" y="0"/>
          <a:ext cx="0" cy="0"/>
          <a:chOff x="0" y="0"/>
          <a:chExt cx="0" cy="0"/>
        </a:xfrm>
      </p:grpSpPr>
      <p:sp>
        <p:nvSpPr>
          <p:cNvPr id="252" name="Google Shape;252;p11"/>
          <p:cNvSpPr/>
          <p:nvPr/>
        </p:nvSpPr>
        <p:spPr>
          <a:xfrm>
            <a:off x="0" y="0"/>
            <a:ext cx="9144000" cy="914400"/>
          </a:xfrm>
          <a:prstGeom prst="rect">
            <a:avLst/>
          </a:prstGeom>
          <a:solidFill>
            <a:srgbClr val="1A3C6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0" y="0"/>
            <a:ext cx="164592" cy="9144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p:nvPr/>
        </p:nvSpPr>
        <p:spPr>
          <a:xfrm>
            <a:off x="320040" y="146304"/>
            <a:ext cx="621792" cy="621792"/>
          </a:xfrm>
          <a:prstGeom prst="ellipse">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11"/>
          <p:cNvPicPr preferRelativeResize="0"/>
          <p:nvPr/>
        </p:nvPicPr>
        <p:blipFill rotWithShape="1">
          <a:blip r:embed="rId3">
            <a:alphaModFix/>
          </a:blip>
          <a:srcRect b="0" l="0" r="0" t="0"/>
          <a:stretch/>
        </p:blipFill>
        <p:spPr>
          <a:xfrm>
            <a:off x="402336" y="228600"/>
            <a:ext cx="457200" cy="457200"/>
          </a:xfrm>
          <a:prstGeom prst="rect">
            <a:avLst/>
          </a:prstGeom>
          <a:noFill/>
          <a:ln>
            <a:noFill/>
          </a:ln>
        </p:spPr>
      </p:pic>
      <p:sp>
        <p:nvSpPr>
          <p:cNvPr id="256" name="Google Shape;256;p11"/>
          <p:cNvSpPr/>
          <p:nvPr/>
        </p:nvSpPr>
        <p:spPr>
          <a:xfrm>
            <a:off x="1078992" y="0"/>
            <a:ext cx="621792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libri"/>
              <a:buNone/>
            </a:pPr>
            <a:r>
              <a:rPr b="1" lang="en-US" sz="2400">
                <a:solidFill>
                  <a:srgbClr val="FFFFFF"/>
                </a:solidFill>
                <a:latin typeface="Calibri"/>
                <a:ea typeface="Calibri"/>
                <a:cs typeface="Calibri"/>
                <a:sym typeface="Calibri"/>
              </a:rPr>
              <a:t>Challenges &amp; Learning</a:t>
            </a:r>
            <a:endParaRPr sz="2400">
              <a:solidFill>
                <a:schemeClr val="dk1"/>
              </a:solidFill>
              <a:latin typeface="Calibri"/>
              <a:ea typeface="Calibri"/>
              <a:cs typeface="Calibri"/>
              <a:sym typeface="Calibri"/>
            </a:endParaRPr>
          </a:p>
        </p:txBody>
      </p:sp>
      <p:sp>
        <p:nvSpPr>
          <p:cNvPr id="257" name="Google Shape;257;p11"/>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9 / 10</a:t>
            </a:r>
            <a:endParaRPr sz="900">
              <a:solidFill>
                <a:schemeClr val="dk1"/>
              </a:solidFill>
              <a:latin typeface="Calibri"/>
              <a:ea typeface="Calibri"/>
              <a:cs typeface="Calibri"/>
              <a:sym typeface="Calibri"/>
            </a:endParaRPr>
          </a:p>
        </p:txBody>
      </p:sp>
      <p:pic>
        <p:nvPicPr>
          <p:cNvPr descr="/home/claude/logo_nobg.png" id="258" name="Google Shape;258;p11"/>
          <p:cNvPicPr preferRelativeResize="0"/>
          <p:nvPr/>
        </p:nvPicPr>
        <p:blipFill rotWithShape="1">
          <a:blip r:embed="rId4">
            <a:alphaModFix/>
          </a:blip>
          <a:srcRect b="0" l="0" r="0" t="0"/>
          <a:stretch/>
        </p:blipFill>
        <p:spPr>
          <a:xfrm>
            <a:off x="7635240" y="54864"/>
            <a:ext cx="1371600" cy="569433"/>
          </a:xfrm>
          <a:prstGeom prst="rect">
            <a:avLst/>
          </a:prstGeom>
          <a:noFill/>
          <a:ln>
            <a:noFill/>
          </a:ln>
        </p:spPr>
      </p:pic>
      <p:sp>
        <p:nvSpPr>
          <p:cNvPr id="259" name="Google Shape;259;p11"/>
          <p:cNvSpPr/>
          <p:nvPr/>
        </p:nvSpPr>
        <p:spPr>
          <a:xfrm>
            <a:off x="256032" y="1078992"/>
            <a:ext cx="4389120" cy="3858768"/>
          </a:xfrm>
          <a:prstGeom prst="rect">
            <a:avLst/>
          </a:prstGeom>
          <a:solidFill>
            <a:srgbClr val="FFFFFF"/>
          </a:solidFill>
          <a:ln>
            <a:noFill/>
          </a:ln>
          <a:effectLst>
            <a:outerShdw blurRad="1016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256032" y="1078992"/>
            <a:ext cx="4389120" cy="420624"/>
          </a:xfrm>
          <a:prstGeom prst="rect">
            <a:avLst/>
          </a:prstGeom>
          <a:solidFill>
            <a:srgbClr val="C039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a:off x="365760" y="1115568"/>
            <a:ext cx="416966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Challenges Faced &amp; Solutions Applied</a:t>
            </a:r>
            <a:endParaRPr sz="1100">
              <a:solidFill>
                <a:schemeClr val="dk1"/>
              </a:solidFill>
              <a:latin typeface="Calibri"/>
              <a:ea typeface="Calibri"/>
              <a:cs typeface="Calibri"/>
              <a:sym typeface="Calibri"/>
            </a:endParaRPr>
          </a:p>
        </p:txBody>
      </p:sp>
      <p:sp>
        <p:nvSpPr>
          <p:cNvPr id="262" name="Google Shape;262;p11"/>
          <p:cNvSpPr/>
          <p:nvPr/>
        </p:nvSpPr>
        <p:spPr>
          <a:xfrm>
            <a:off x="256032" y="1554480"/>
            <a:ext cx="4389120" cy="845820"/>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1"/>
          <p:cNvSpPr/>
          <p:nvPr/>
        </p:nvSpPr>
        <p:spPr>
          <a:xfrm>
            <a:off x="365760" y="1609344"/>
            <a:ext cx="4169700" cy="355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50"/>
              <a:buFont typeface="Calibri"/>
              <a:buNone/>
            </a:pPr>
            <a:r>
              <a:rPr b="1" lang="en-US" sz="1050">
                <a:solidFill>
                  <a:srgbClr val="C0392B"/>
                </a:solidFill>
                <a:latin typeface="Calibri"/>
                <a:ea typeface="Calibri"/>
                <a:cs typeface="Calibri"/>
                <a:sym typeface="Calibri"/>
              </a:rPr>
              <a:t>   ⚠ </a:t>
            </a:r>
            <a:r>
              <a:rPr b="1" lang="en-US" sz="1050">
                <a:solidFill>
                  <a:srgbClr val="C0392B"/>
                </a:solidFill>
                <a:latin typeface="Calibri"/>
                <a:ea typeface="Calibri"/>
                <a:cs typeface="Calibri"/>
                <a:sym typeface="Calibri"/>
              </a:rPr>
              <a:t>High volatility in cryptocurrency prices. </a:t>
            </a:r>
            <a:endParaRPr sz="1050">
              <a:solidFill>
                <a:schemeClr val="dk1"/>
              </a:solidFill>
              <a:latin typeface="Calibri"/>
              <a:ea typeface="Calibri"/>
              <a:cs typeface="Calibri"/>
              <a:sym typeface="Calibri"/>
            </a:endParaRPr>
          </a:p>
        </p:txBody>
      </p:sp>
      <p:sp>
        <p:nvSpPr>
          <p:cNvPr id="264" name="Google Shape;264;p11"/>
          <p:cNvSpPr/>
          <p:nvPr/>
        </p:nvSpPr>
        <p:spPr>
          <a:xfrm>
            <a:off x="365760" y="1926641"/>
            <a:ext cx="4169664" cy="4059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050"/>
              <a:buFont typeface="Calibri"/>
              <a:buNone/>
            </a:pPr>
            <a:r>
              <a:rPr lang="en-US" sz="1050">
                <a:solidFill>
                  <a:srgbClr val="1A202C"/>
                </a:solidFill>
                <a:latin typeface="Calibri"/>
                <a:ea typeface="Calibri"/>
                <a:cs typeface="Calibri"/>
                <a:sym typeface="Calibri"/>
              </a:rPr>
              <a:t>→   Data Normalization </a:t>
            </a:r>
            <a:endParaRPr sz="1050">
              <a:solidFill>
                <a:schemeClr val="dk1"/>
              </a:solidFill>
              <a:latin typeface="Calibri"/>
              <a:ea typeface="Calibri"/>
              <a:cs typeface="Calibri"/>
              <a:sym typeface="Calibri"/>
            </a:endParaRPr>
          </a:p>
        </p:txBody>
      </p:sp>
      <p:sp>
        <p:nvSpPr>
          <p:cNvPr id="265" name="Google Shape;265;p11"/>
          <p:cNvSpPr/>
          <p:nvPr/>
        </p:nvSpPr>
        <p:spPr>
          <a:xfrm>
            <a:off x="365760" y="2455164"/>
            <a:ext cx="4169664" cy="3552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50"/>
              <a:buFont typeface="Calibri"/>
              <a:buNone/>
            </a:pPr>
            <a:r>
              <a:rPr b="1" lang="en-US" sz="1050">
                <a:solidFill>
                  <a:srgbClr val="C0392B"/>
                </a:solidFill>
                <a:latin typeface="Calibri"/>
                <a:ea typeface="Calibri"/>
                <a:cs typeface="Calibri"/>
                <a:sym typeface="Calibri"/>
              </a:rPr>
              <a:t>  ⚠</a:t>
            </a:r>
            <a:r>
              <a:rPr b="1" lang="en-US" sz="1050">
                <a:solidFill>
                  <a:srgbClr val="C0392B"/>
                </a:solidFill>
                <a:latin typeface="Calibri"/>
                <a:ea typeface="Calibri"/>
                <a:cs typeface="Calibri"/>
                <a:sym typeface="Calibri"/>
              </a:rPr>
              <a:t> Selecting the optimal sliding window size. </a:t>
            </a:r>
            <a:endParaRPr sz="1050">
              <a:solidFill>
                <a:schemeClr val="dk1"/>
              </a:solidFill>
              <a:latin typeface="Calibri"/>
              <a:ea typeface="Calibri"/>
              <a:cs typeface="Calibri"/>
              <a:sym typeface="Calibri"/>
            </a:endParaRPr>
          </a:p>
        </p:txBody>
      </p:sp>
      <p:sp>
        <p:nvSpPr>
          <p:cNvPr id="266" name="Google Shape;266;p11"/>
          <p:cNvSpPr/>
          <p:nvPr/>
        </p:nvSpPr>
        <p:spPr>
          <a:xfrm>
            <a:off x="365760" y="2772461"/>
            <a:ext cx="4169664" cy="4059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050"/>
              <a:buFont typeface="Calibri"/>
              <a:buNone/>
            </a:pPr>
            <a:r>
              <a:rPr lang="en-US" sz="1050">
                <a:solidFill>
                  <a:srgbClr val="1A202C"/>
                </a:solidFill>
                <a:latin typeface="Calibri"/>
                <a:ea typeface="Calibri"/>
                <a:cs typeface="Calibri"/>
                <a:sym typeface="Calibri"/>
              </a:rPr>
              <a:t>→   Dropout Regularization </a:t>
            </a:r>
            <a:endParaRPr sz="1050">
              <a:solidFill>
                <a:schemeClr val="dk1"/>
              </a:solidFill>
              <a:latin typeface="Calibri"/>
              <a:ea typeface="Calibri"/>
              <a:cs typeface="Calibri"/>
              <a:sym typeface="Calibri"/>
            </a:endParaRPr>
          </a:p>
        </p:txBody>
      </p:sp>
      <p:sp>
        <p:nvSpPr>
          <p:cNvPr id="267" name="Google Shape;267;p11"/>
          <p:cNvSpPr/>
          <p:nvPr/>
        </p:nvSpPr>
        <p:spPr>
          <a:xfrm>
            <a:off x="256032" y="3246120"/>
            <a:ext cx="4389120" cy="845820"/>
          </a:xfrm>
          <a:prstGeom prst="rect">
            <a:avLst/>
          </a:prstGeom>
          <a:solidFill>
            <a:srgbClr val="F4F6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1"/>
          <p:cNvSpPr/>
          <p:nvPr/>
        </p:nvSpPr>
        <p:spPr>
          <a:xfrm>
            <a:off x="365760" y="3300984"/>
            <a:ext cx="4169664" cy="3552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50"/>
              <a:buFont typeface="Calibri"/>
              <a:buNone/>
            </a:pPr>
            <a:r>
              <a:rPr b="1" lang="en-US" sz="1050">
                <a:solidFill>
                  <a:srgbClr val="C0392B"/>
                </a:solidFill>
                <a:latin typeface="Calibri"/>
                <a:ea typeface="Calibri"/>
                <a:cs typeface="Calibri"/>
                <a:sym typeface="Calibri"/>
              </a:rPr>
              <a:t>⚠ </a:t>
            </a:r>
            <a:r>
              <a:rPr b="1" lang="en-US" sz="1050">
                <a:solidFill>
                  <a:srgbClr val="C0392B"/>
                </a:solidFill>
                <a:latin typeface="Calibri"/>
                <a:ea typeface="Calibri"/>
                <a:cs typeface="Calibri"/>
                <a:sym typeface="Calibri"/>
              </a:rPr>
              <a:t>Avoiding overfitting in the LSTM model. </a:t>
            </a:r>
            <a:endParaRPr sz="1050">
              <a:solidFill>
                <a:schemeClr val="dk1"/>
              </a:solidFill>
              <a:latin typeface="Calibri"/>
              <a:ea typeface="Calibri"/>
              <a:cs typeface="Calibri"/>
              <a:sym typeface="Calibri"/>
            </a:endParaRPr>
          </a:p>
        </p:txBody>
      </p:sp>
      <p:sp>
        <p:nvSpPr>
          <p:cNvPr id="269" name="Google Shape;269;p11"/>
          <p:cNvSpPr/>
          <p:nvPr/>
        </p:nvSpPr>
        <p:spPr>
          <a:xfrm>
            <a:off x="365760" y="3618281"/>
            <a:ext cx="4169664" cy="4059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050"/>
              <a:buFont typeface="Calibri"/>
              <a:buNone/>
            </a:pPr>
            <a:r>
              <a:rPr lang="en-US" sz="1050">
                <a:solidFill>
                  <a:srgbClr val="1A202C"/>
                </a:solidFill>
                <a:latin typeface="Calibri"/>
                <a:ea typeface="Calibri"/>
                <a:cs typeface="Calibri"/>
                <a:sym typeface="Calibri"/>
              </a:rPr>
              <a:t>→  </a:t>
            </a:r>
            <a:r>
              <a:rPr lang="en-US" sz="1050">
                <a:solidFill>
                  <a:srgbClr val="1A202C"/>
                </a:solidFill>
                <a:latin typeface="Calibri"/>
                <a:ea typeface="Calibri"/>
                <a:cs typeface="Calibri"/>
                <a:sym typeface="Calibri"/>
              </a:rPr>
              <a:t>Sliding Window Technique </a:t>
            </a:r>
            <a:endParaRPr sz="1050">
              <a:solidFill>
                <a:schemeClr val="dk1"/>
              </a:solidFill>
              <a:latin typeface="Calibri"/>
              <a:ea typeface="Calibri"/>
              <a:cs typeface="Calibri"/>
              <a:sym typeface="Calibri"/>
            </a:endParaRPr>
          </a:p>
        </p:txBody>
      </p:sp>
      <p:sp>
        <p:nvSpPr>
          <p:cNvPr id="270" name="Google Shape;270;p11"/>
          <p:cNvSpPr/>
          <p:nvPr/>
        </p:nvSpPr>
        <p:spPr>
          <a:xfrm>
            <a:off x="365760" y="4146804"/>
            <a:ext cx="4169664" cy="3552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050"/>
              <a:buFont typeface="Calibri"/>
              <a:buNone/>
            </a:pPr>
            <a:r>
              <a:rPr b="1" lang="en-US" sz="1050">
                <a:solidFill>
                  <a:srgbClr val="C0392B"/>
                </a:solidFill>
                <a:latin typeface="Calibri"/>
                <a:ea typeface="Calibri"/>
                <a:cs typeface="Calibri"/>
                <a:sym typeface="Calibri"/>
              </a:rPr>
              <a:t>⚠  Processing real-time API data. </a:t>
            </a:r>
            <a:endParaRPr sz="1050">
              <a:solidFill>
                <a:schemeClr val="dk1"/>
              </a:solidFill>
              <a:latin typeface="Calibri"/>
              <a:ea typeface="Calibri"/>
              <a:cs typeface="Calibri"/>
              <a:sym typeface="Calibri"/>
            </a:endParaRPr>
          </a:p>
        </p:txBody>
      </p:sp>
      <p:sp>
        <p:nvSpPr>
          <p:cNvPr id="271" name="Google Shape;271;p11"/>
          <p:cNvSpPr/>
          <p:nvPr/>
        </p:nvSpPr>
        <p:spPr>
          <a:xfrm>
            <a:off x="365760" y="4464101"/>
            <a:ext cx="4169664" cy="40599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202C"/>
              </a:buClr>
              <a:buSzPts val="1050"/>
              <a:buFont typeface="Calibri"/>
              <a:buNone/>
            </a:pPr>
            <a:r>
              <a:rPr lang="en-US" sz="1050">
                <a:solidFill>
                  <a:srgbClr val="1A202C"/>
                </a:solidFill>
                <a:latin typeface="Calibri"/>
                <a:ea typeface="Calibri"/>
                <a:cs typeface="Calibri"/>
                <a:sym typeface="Calibri"/>
              </a:rPr>
              <a:t>→  </a:t>
            </a:r>
            <a:r>
              <a:rPr lang="en-US" sz="1050">
                <a:solidFill>
                  <a:srgbClr val="1A202C"/>
                </a:solidFill>
                <a:latin typeface="Calibri"/>
                <a:ea typeface="Calibri"/>
                <a:cs typeface="Calibri"/>
                <a:sym typeface="Calibri"/>
              </a:rPr>
              <a:t>Multiple Epoch Training </a:t>
            </a:r>
            <a:endParaRPr sz="1050">
              <a:solidFill>
                <a:schemeClr val="dk1"/>
              </a:solidFill>
              <a:latin typeface="Calibri"/>
              <a:ea typeface="Calibri"/>
              <a:cs typeface="Calibri"/>
              <a:sym typeface="Calibri"/>
            </a:endParaRPr>
          </a:p>
        </p:txBody>
      </p:sp>
      <p:sp>
        <p:nvSpPr>
          <p:cNvPr id="272" name="Google Shape;272;p11"/>
          <p:cNvSpPr/>
          <p:nvPr/>
        </p:nvSpPr>
        <p:spPr>
          <a:xfrm>
            <a:off x="4864608" y="1078992"/>
            <a:ext cx="4023360" cy="3858768"/>
          </a:xfrm>
          <a:prstGeom prst="rect">
            <a:avLst/>
          </a:prstGeom>
          <a:solidFill>
            <a:srgbClr val="1A3C6E"/>
          </a:solidFill>
          <a:ln>
            <a:noFill/>
          </a:ln>
          <a:effectLst>
            <a:outerShdw blurRad="101600" rotWithShape="0" algn="bl" dir="8100000" dist="254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1"/>
          <p:cNvSpPr/>
          <p:nvPr/>
        </p:nvSpPr>
        <p:spPr>
          <a:xfrm>
            <a:off x="4864608" y="1078992"/>
            <a:ext cx="4023360" cy="420624"/>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4974336" y="1115568"/>
            <a:ext cx="3803904"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C6E"/>
              </a:buClr>
              <a:buSzPts val="1100"/>
              <a:buFont typeface="Calibri"/>
              <a:buNone/>
            </a:pPr>
            <a:r>
              <a:rPr b="1" lang="en-US" sz="1100">
                <a:solidFill>
                  <a:srgbClr val="1A3C6E"/>
                </a:solidFill>
                <a:latin typeface="Calibri"/>
                <a:ea typeface="Calibri"/>
                <a:cs typeface="Calibri"/>
                <a:sym typeface="Calibri"/>
              </a:rPr>
              <a:t>Skills Gained</a:t>
            </a:r>
            <a:endParaRPr sz="1100">
              <a:solidFill>
                <a:schemeClr val="dk1"/>
              </a:solidFill>
              <a:latin typeface="Calibri"/>
              <a:ea typeface="Calibri"/>
              <a:cs typeface="Calibri"/>
              <a:sym typeface="Calibri"/>
            </a:endParaRPr>
          </a:p>
        </p:txBody>
      </p:sp>
      <p:sp>
        <p:nvSpPr>
          <p:cNvPr id="275" name="Google Shape;275;p11"/>
          <p:cNvSpPr/>
          <p:nvPr/>
        </p:nvSpPr>
        <p:spPr>
          <a:xfrm>
            <a:off x="4974336" y="1627632"/>
            <a:ext cx="347472" cy="530352"/>
          </a:xfrm>
          <a:prstGeom prst="rect">
            <a:avLst/>
          </a:prstGeom>
          <a:solidFill>
            <a:srgbClr val="3AACF0">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4974336" y="1627632"/>
            <a:ext cx="3474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277" name="Google Shape;277;p11"/>
          <p:cNvSpPr/>
          <p:nvPr/>
        </p:nvSpPr>
        <p:spPr>
          <a:xfrm>
            <a:off x="5394960" y="1554480"/>
            <a:ext cx="3401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D5F0"/>
              </a:buClr>
              <a:buSzPts val="1100"/>
              <a:buFont typeface="Calibri"/>
              <a:buNone/>
            </a:pPr>
            <a:r>
              <a:rPr lang="en-US" sz="1100">
                <a:solidFill>
                  <a:srgbClr val="BDD5F0"/>
                </a:solidFill>
                <a:latin typeface="Calibri"/>
                <a:ea typeface="Calibri"/>
                <a:cs typeface="Calibri"/>
                <a:sym typeface="Calibri"/>
              </a:rPr>
              <a:t>  </a:t>
            </a:r>
            <a:r>
              <a:rPr lang="en-US" sz="1100">
                <a:solidFill>
                  <a:srgbClr val="BDD5F0"/>
                </a:solidFill>
                <a:latin typeface="Calibri"/>
                <a:ea typeface="Calibri"/>
                <a:cs typeface="Calibri"/>
                <a:sym typeface="Calibri"/>
              </a:rPr>
              <a:t>Deep Learning </a:t>
            </a:r>
            <a:endParaRPr sz="1100">
              <a:solidFill>
                <a:schemeClr val="dk1"/>
              </a:solidFill>
              <a:latin typeface="Calibri"/>
              <a:ea typeface="Calibri"/>
              <a:cs typeface="Calibri"/>
              <a:sym typeface="Calibri"/>
            </a:endParaRPr>
          </a:p>
        </p:txBody>
      </p:sp>
      <p:sp>
        <p:nvSpPr>
          <p:cNvPr id="278" name="Google Shape;278;p11"/>
          <p:cNvSpPr/>
          <p:nvPr/>
        </p:nvSpPr>
        <p:spPr>
          <a:xfrm>
            <a:off x="4974336" y="2304288"/>
            <a:ext cx="347472" cy="530352"/>
          </a:xfrm>
          <a:prstGeom prst="rect">
            <a:avLst/>
          </a:prstGeom>
          <a:solidFill>
            <a:srgbClr val="3AACF0">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4974336" y="2304288"/>
            <a:ext cx="3474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280" name="Google Shape;280;p11"/>
          <p:cNvSpPr/>
          <p:nvPr/>
        </p:nvSpPr>
        <p:spPr>
          <a:xfrm>
            <a:off x="5394960" y="2231136"/>
            <a:ext cx="3401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D5F0"/>
              </a:buClr>
              <a:buSzPts val="1100"/>
              <a:buFont typeface="Calibri"/>
              <a:buNone/>
            </a:pPr>
            <a:r>
              <a:rPr lang="en-US" sz="1100">
                <a:solidFill>
                  <a:srgbClr val="BDD5F0"/>
                </a:solidFill>
                <a:latin typeface="Calibri"/>
                <a:ea typeface="Calibri"/>
                <a:cs typeface="Calibri"/>
                <a:sym typeface="Calibri"/>
              </a:rPr>
              <a:t> </a:t>
            </a:r>
            <a:r>
              <a:rPr lang="en-US" sz="1100">
                <a:solidFill>
                  <a:srgbClr val="BDD5F0"/>
                </a:solidFill>
                <a:latin typeface="Calibri"/>
                <a:ea typeface="Calibri"/>
                <a:cs typeface="Calibri"/>
                <a:sym typeface="Calibri"/>
              </a:rPr>
              <a:t>Time-Series Forecasting </a:t>
            </a:r>
            <a:endParaRPr sz="1100">
              <a:solidFill>
                <a:schemeClr val="dk1"/>
              </a:solidFill>
              <a:latin typeface="Calibri"/>
              <a:ea typeface="Calibri"/>
              <a:cs typeface="Calibri"/>
              <a:sym typeface="Calibri"/>
            </a:endParaRPr>
          </a:p>
        </p:txBody>
      </p:sp>
      <p:sp>
        <p:nvSpPr>
          <p:cNvPr id="281" name="Google Shape;281;p11"/>
          <p:cNvSpPr/>
          <p:nvPr/>
        </p:nvSpPr>
        <p:spPr>
          <a:xfrm>
            <a:off x="4974336" y="2980944"/>
            <a:ext cx="347472" cy="530352"/>
          </a:xfrm>
          <a:prstGeom prst="rect">
            <a:avLst/>
          </a:prstGeom>
          <a:solidFill>
            <a:srgbClr val="3AACF0">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4974336" y="2980944"/>
            <a:ext cx="3474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283" name="Google Shape;283;p11"/>
          <p:cNvSpPr/>
          <p:nvPr/>
        </p:nvSpPr>
        <p:spPr>
          <a:xfrm>
            <a:off x="5394960" y="2907792"/>
            <a:ext cx="3401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D5F0"/>
              </a:buClr>
              <a:buSzPts val="1100"/>
              <a:buFont typeface="Calibri"/>
              <a:buNone/>
            </a:pPr>
            <a:r>
              <a:rPr lang="en-US" sz="1100">
                <a:solidFill>
                  <a:srgbClr val="BDD5F0"/>
                </a:solidFill>
                <a:latin typeface="Calibri"/>
                <a:ea typeface="Calibri"/>
                <a:cs typeface="Calibri"/>
                <a:sym typeface="Calibri"/>
              </a:rPr>
              <a:t>   </a:t>
            </a:r>
            <a:r>
              <a:rPr lang="en-US" sz="1100">
                <a:solidFill>
                  <a:srgbClr val="BDD5F0"/>
                </a:solidFill>
                <a:latin typeface="Calibri"/>
                <a:ea typeface="Calibri"/>
                <a:cs typeface="Calibri"/>
                <a:sym typeface="Calibri"/>
              </a:rPr>
              <a:t>TensorFlow &amp; Keras </a:t>
            </a:r>
            <a:endParaRPr sz="1100">
              <a:solidFill>
                <a:schemeClr val="dk1"/>
              </a:solidFill>
              <a:latin typeface="Calibri"/>
              <a:ea typeface="Calibri"/>
              <a:cs typeface="Calibri"/>
              <a:sym typeface="Calibri"/>
            </a:endParaRPr>
          </a:p>
        </p:txBody>
      </p:sp>
      <p:sp>
        <p:nvSpPr>
          <p:cNvPr id="284" name="Google Shape;284;p11"/>
          <p:cNvSpPr/>
          <p:nvPr/>
        </p:nvSpPr>
        <p:spPr>
          <a:xfrm>
            <a:off x="4974336" y="3657600"/>
            <a:ext cx="347472" cy="530352"/>
          </a:xfrm>
          <a:prstGeom prst="rect">
            <a:avLst/>
          </a:prstGeom>
          <a:solidFill>
            <a:srgbClr val="3AACF0">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1"/>
          <p:cNvSpPr/>
          <p:nvPr/>
        </p:nvSpPr>
        <p:spPr>
          <a:xfrm>
            <a:off x="4974336" y="3657600"/>
            <a:ext cx="3474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286" name="Google Shape;286;p11"/>
          <p:cNvSpPr/>
          <p:nvPr/>
        </p:nvSpPr>
        <p:spPr>
          <a:xfrm>
            <a:off x="5394960" y="3584448"/>
            <a:ext cx="3401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D5F0"/>
              </a:buClr>
              <a:buSzPts val="1100"/>
              <a:buFont typeface="Calibri"/>
              <a:buNone/>
            </a:pPr>
            <a:r>
              <a:rPr lang="en-US" sz="1100">
                <a:solidFill>
                  <a:srgbClr val="BDD5F0"/>
                </a:solidFill>
                <a:latin typeface="Calibri"/>
                <a:ea typeface="Calibri"/>
                <a:cs typeface="Calibri"/>
                <a:sym typeface="Calibri"/>
              </a:rPr>
              <a:t>   </a:t>
            </a:r>
            <a:r>
              <a:rPr lang="en-US" sz="1100">
                <a:solidFill>
                  <a:srgbClr val="BDD5F0"/>
                </a:solidFill>
                <a:latin typeface="Calibri"/>
                <a:ea typeface="Calibri"/>
                <a:cs typeface="Calibri"/>
                <a:sym typeface="Calibri"/>
              </a:rPr>
              <a:t>API Integration and Streamlit Development</a:t>
            </a:r>
            <a:endParaRPr sz="1100">
              <a:solidFill>
                <a:srgbClr val="BDD5F0"/>
              </a:solidFill>
              <a:latin typeface="Calibri"/>
              <a:ea typeface="Calibri"/>
              <a:cs typeface="Calibri"/>
              <a:sym typeface="Calibri"/>
            </a:endParaRPr>
          </a:p>
          <a:p>
            <a:pPr indent="0" lvl="0" marL="0" marR="0" rtl="0" algn="l">
              <a:spcBef>
                <a:spcPts val="0"/>
              </a:spcBef>
              <a:spcAft>
                <a:spcPts val="0"/>
              </a:spcAft>
              <a:buClr>
                <a:srgbClr val="BDD5F0"/>
              </a:buClr>
              <a:buSzPts val="1100"/>
              <a:buFont typeface="Calibri"/>
              <a:buNone/>
            </a:pPr>
            <a:r>
              <a:t/>
            </a:r>
            <a:endParaRPr sz="1100">
              <a:solidFill>
                <a:srgbClr val="BDD5F0"/>
              </a:solidFill>
              <a:latin typeface="Calibri"/>
              <a:ea typeface="Calibri"/>
              <a:cs typeface="Calibri"/>
              <a:sym typeface="Calibri"/>
            </a:endParaRPr>
          </a:p>
        </p:txBody>
      </p:sp>
      <p:sp>
        <p:nvSpPr>
          <p:cNvPr id="287" name="Google Shape;287;p11"/>
          <p:cNvSpPr/>
          <p:nvPr/>
        </p:nvSpPr>
        <p:spPr>
          <a:xfrm>
            <a:off x="4974336" y="4334256"/>
            <a:ext cx="347472" cy="530352"/>
          </a:xfrm>
          <a:prstGeom prst="rect">
            <a:avLst/>
          </a:prstGeom>
          <a:solidFill>
            <a:srgbClr val="3AACF0">
              <a:alpha val="7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1"/>
          <p:cNvSpPr/>
          <p:nvPr/>
        </p:nvSpPr>
        <p:spPr>
          <a:xfrm>
            <a:off x="4974336" y="4334256"/>
            <a:ext cx="34747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289" name="Google Shape;289;p11"/>
          <p:cNvSpPr/>
          <p:nvPr/>
        </p:nvSpPr>
        <p:spPr>
          <a:xfrm>
            <a:off x="5394960" y="4261104"/>
            <a:ext cx="3401700" cy="676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DD5F0"/>
              </a:buClr>
              <a:buSzPts val="1100"/>
              <a:buFont typeface="Calibri"/>
              <a:buNone/>
            </a:pPr>
            <a:r>
              <a:rPr lang="en-US" sz="1100">
                <a:solidFill>
                  <a:srgbClr val="BDD5F0"/>
                </a:solidFill>
                <a:latin typeface="Calibri"/>
                <a:ea typeface="Calibri"/>
                <a:cs typeface="Calibri"/>
                <a:sym typeface="Calibri"/>
              </a:rPr>
              <a:t>  Data Visualization and  Model Evaluation</a:t>
            </a:r>
            <a:endParaRPr sz="1100">
              <a:solidFill>
                <a:srgbClr val="BDD5F0"/>
              </a:solidFill>
              <a:latin typeface="Calibri"/>
              <a:ea typeface="Calibri"/>
              <a:cs typeface="Calibri"/>
              <a:sym typeface="Calibri"/>
            </a:endParaRPr>
          </a:p>
          <a:p>
            <a:pPr indent="0" lvl="0" marL="0" marR="0" rtl="0" algn="l">
              <a:spcBef>
                <a:spcPts val="0"/>
              </a:spcBef>
              <a:spcAft>
                <a:spcPts val="0"/>
              </a:spcAft>
              <a:buClr>
                <a:srgbClr val="BDD5F0"/>
              </a:buClr>
              <a:buSzPts val="1100"/>
              <a:buFont typeface="Calibri"/>
              <a:buNone/>
            </a:pPr>
            <a:r>
              <a:t/>
            </a:r>
            <a:endParaRPr sz="1100">
              <a:solidFill>
                <a:srgbClr val="BDD5F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3C6E"/>
        </a:solidFill>
      </p:bgPr>
    </p:bg>
    <p:spTree>
      <p:nvGrpSpPr>
        <p:cNvPr id="294" name="Shape 294"/>
        <p:cNvGrpSpPr/>
        <p:nvPr/>
      </p:nvGrpSpPr>
      <p:grpSpPr>
        <a:xfrm>
          <a:off x="0" y="0"/>
          <a:ext cx="0" cy="0"/>
          <a:chOff x="0" y="0"/>
          <a:chExt cx="0" cy="0"/>
        </a:xfrm>
      </p:grpSpPr>
      <p:sp>
        <p:nvSpPr>
          <p:cNvPr id="295" name="Google Shape;295;p12"/>
          <p:cNvSpPr/>
          <p:nvPr/>
        </p:nvSpPr>
        <p:spPr>
          <a:xfrm>
            <a:off x="-914400" y="3200400"/>
            <a:ext cx="3200400" cy="3200400"/>
          </a:xfrm>
          <a:prstGeom prst="ellipse">
            <a:avLst/>
          </a:prstGeom>
          <a:solidFill>
            <a:srgbClr val="2B5BA8">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7315200" y="-914400"/>
            <a:ext cx="2926080" cy="2926080"/>
          </a:xfrm>
          <a:prstGeom prst="ellipse">
            <a:avLst/>
          </a:prstGeom>
          <a:solidFill>
            <a:srgbClr val="4A80D4">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p:nvPr/>
        </p:nvSpPr>
        <p:spPr>
          <a:xfrm>
            <a:off x="0" y="0"/>
            <a:ext cx="164592" cy="5143500"/>
          </a:xfrm>
          <a:prstGeom prst="rect">
            <a:avLst/>
          </a:prstGeom>
          <a:solidFill>
            <a:srgbClr val="3AACF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logo_nobg.png" id="298" name="Google Shape;298;p12"/>
          <p:cNvPicPr preferRelativeResize="0"/>
          <p:nvPr/>
        </p:nvPicPr>
        <p:blipFill rotWithShape="1">
          <a:blip r:embed="rId3">
            <a:alphaModFix/>
          </a:blip>
          <a:srcRect b="0" l="0" r="0" t="0"/>
          <a:stretch/>
        </p:blipFill>
        <p:spPr>
          <a:xfrm>
            <a:off x="7635240" y="100584"/>
            <a:ext cx="1371600" cy="569433"/>
          </a:xfrm>
          <a:prstGeom prst="rect">
            <a:avLst/>
          </a:prstGeom>
          <a:noFill/>
          <a:ln>
            <a:noFill/>
          </a:ln>
        </p:spPr>
      </p:pic>
      <p:sp>
        <p:nvSpPr>
          <p:cNvPr id="299" name="Google Shape;299;p12"/>
          <p:cNvSpPr/>
          <p:nvPr/>
        </p:nvSpPr>
        <p:spPr>
          <a:xfrm>
            <a:off x="320040" y="146304"/>
            <a:ext cx="621792" cy="621792"/>
          </a:xfrm>
          <a:prstGeom prst="ellipse">
            <a:avLst/>
          </a:prstGeom>
          <a:solidFill>
            <a:srgbClr val="3AACF0">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0" name="Google Shape;300;p12"/>
          <p:cNvPicPr preferRelativeResize="0"/>
          <p:nvPr/>
        </p:nvPicPr>
        <p:blipFill rotWithShape="1">
          <a:blip r:embed="rId4">
            <a:alphaModFix/>
          </a:blip>
          <a:srcRect b="0" l="0" r="0" t="0"/>
          <a:stretch/>
        </p:blipFill>
        <p:spPr>
          <a:xfrm>
            <a:off x="402336" y="228600"/>
            <a:ext cx="457200" cy="457200"/>
          </a:xfrm>
          <a:prstGeom prst="rect">
            <a:avLst/>
          </a:prstGeom>
          <a:noFill/>
          <a:ln>
            <a:noFill/>
          </a:ln>
        </p:spPr>
      </p:pic>
      <p:sp>
        <p:nvSpPr>
          <p:cNvPr id="301" name="Google Shape;301;p12"/>
          <p:cNvSpPr/>
          <p:nvPr/>
        </p:nvSpPr>
        <p:spPr>
          <a:xfrm>
            <a:off x="1078992" y="0"/>
            <a:ext cx="68580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libri"/>
              <a:buNone/>
            </a:pPr>
            <a:r>
              <a:rPr b="1" lang="en-US" sz="2600">
                <a:solidFill>
                  <a:srgbClr val="FFFFFF"/>
                </a:solidFill>
                <a:latin typeface="Calibri"/>
                <a:ea typeface="Calibri"/>
                <a:cs typeface="Calibri"/>
                <a:sym typeface="Calibri"/>
              </a:rPr>
              <a:t>Conclusion &amp; Future Scope</a:t>
            </a:r>
            <a:endParaRPr sz="2600">
              <a:solidFill>
                <a:schemeClr val="dk1"/>
              </a:solidFill>
              <a:latin typeface="Calibri"/>
              <a:ea typeface="Calibri"/>
              <a:cs typeface="Calibri"/>
              <a:sym typeface="Calibri"/>
            </a:endParaRPr>
          </a:p>
        </p:txBody>
      </p:sp>
      <p:sp>
        <p:nvSpPr>
          <p:cNvPr id="302" name="Google Shape;302;p12"/>
          <p:cNvSpPr/>
          <p:nvPr/>
        </p:nvSpPr>
        <p:spPr>
          <a:xfrm>
            <a:off x="6949440" y="0"/>
            <a:ext cx="640080" cy="914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10 / 10</a:t>
            </a:r>
            <a:endParaRPr sz="900">
              <a:solidFill>
                <a:schemeClr val="dk1"/>
              </a:solidFill>
              <a:latin typeface="Calibri"/>
              <a:ea typeface="Calibri"/>
              <a:cs typeface="Calibri"/>
              <a:sym typeface="Calibri"/>
            </a:endParaRPr>
          </a:p>
        </p:txBody>
      </p:sp>
      <p:sp>
        <p:nvSpPr>
          <p:cNvPr id="303" name="Google Shape;303;p12"/>
          <p:cNvSpPr/>
          <p:nvPr/>
        </p:nvSpPr>
        <p:spPr>
          <a:xfrm>
            <a:off x="256032" y="1078992"/>
            <a:ext cx="2834640" cy="3730752"/>
          </a:xfrm>
          <a:prstGeom prst="rect">
            <a:avLst/>
          </a:prstGeom>
          <a:solidFill>
            <a:srgbClr val="1E3A5F"/>
          </a:solidFill>
          <a:ln>
            <a:noFill/>
          </a:ln>
          <a:effectLst>
            <a:outerShdw blurRad="1270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2"/>
          <p:cNvSpPr/>
          <p:nvPr/>
        </p:nvSpPr>
        <p:spPr>
          <a:xfrm>
            <a:off x="256032" y="1078992"/>
            <a:ext cx="2834640" cy="658368"/>
          </a:xfrm>
          <a:prstGeom prst="rect">
            <a:avLst/>
          </a:prstGeom>
          <a:solidFill>
            <a:srgbClr val="2B5B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2"/>
          <p:cNvSpPr/>
          <p:nvPr/>
        </p:nvSpPr>
        <p:spPr>
          <a:xfrm>
            <a:off x="365760" y="1170432"/>
            <a:ext cx="475488" cy="475488"/>
          </a:xfrm>
          <a:prstGeom prst="ellipse">
            <a:avLst/>
          </a:pr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6" name="Google Shape;306;p12"/>
          <p:cNvPicPr preferRelativeResize="0"/>
          <p:nvPr/>
        </p:nvPicPr>
        <p:blipFill rotWithShape="1">
          <a:blip r:embed="rId5">
            <a:alphaModFix/>
          </a:blip>
          <a:srcRect b="0" l="0" r="0" t="0"/>
          <a:stretch/>
        </p:blipFill>
        <p:spPr>
          <a:xfrm>
            <a:off x="402336" y="1207008"/>
            <a:ext cx="402336" cy="402336"/>
          </a:xfrm>
          <a:prstGeom prst="rect">
            <a:avLst/>
          </a:prstGeom>
          <a:noFill/>
          <a:ln>
            <a:noFill/>
          </a:ln>
        </p:spPr>
      </p:pic>
      <p:sp>
        <p:nvSpPr>
          <p:cNvPr id="307" name="Google Shape;307;p12"/>
          <p:cNvSpPr/>
          <p:nvPr/>
        </p:nvSpPr>
        <p:spPr>
          <a:xfrm>
            <a:off x="950976" y="1078992"/>
            <a:ext cx="2066544"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Project Summary</a:t>
            </a:r>
            <a:endParaRPr sz="1200">
              <a:solidFill>
                <a:schemeClr val="dk1"/>
              </a:solidFill>
              <a:latin typeface="Calibri"/>
              <a:ea typeface="Calibri"/>
              <a:cs typeface="Calibri"/>
              <a:sym typeface="Calibri"/>
            </a:endParaRPr>
          </a:p>
        </p:txBody>
      </p:sp>
      <p:sp>
        <p:nvSpPr>
          <p:cNvPr id="308" name="Google Shape;308;p12"/>
          <p:cNvSpPr/>
          <p:nvPr/>
        </p:nvSpPr>
        <p:spPr>
          <a:xfrm>
            <a:off x="420624" y="1792224"/>
            <a:ext cx="2505456" cy="2980944"/>
          </a:xfrm>
          <a:prstGeom prst="rect">
            <a:avLst/>
          </a:prstGeom>
          <a:noFill/>
          <a:ln>
            <a:noFill/>
          </a:ln>
        </p:spPr>
        <p:txBody>
          <a:bodyPr anchorCtr="0" anchor="ctr" bIns="0" lIns="0" spcFirstLastPara="1" rIns="0" wrap="square" tIns="0">
            <a:noAutofit/>
          </a:bodyPr>
          <a:lstStyle/>
          <a:p>
            <a:pPr indent="-298450" lvl="0" marL="457200" rtl="0" algn="l">
              <a:lnSpc>
                <a:spcPct val="115000"/>
              </a:lnSpc>
              <a:spcBef>
                <a:spcPts val="120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Developed an LSTM-based Cryptocurrency Price Prediction System.</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Successfully trained the model using historical Bitcoin prices.</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Generated future price predictions with low RMSE.</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Built an interactive Streamlit dashboard.</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Demonstrated practical application of AI in financial forecasting.</a:t>
            </a:r>
            <a:endParaRPr sz="1100">
              <a:solidFill>
                <a:srgbClr val="BDD5F0"/>
              </a:solidFill>
              <a:latin typeface="Calibri"/>
              <a:ea typeface="Calibri"/>
              <a:cs typeface="Calibri"/>
              <a:sym typeface="Calibri"/>
            </a:endParaRPr>
          </a:p>
          <a:p>
            <a:pPr indent="0" lvl="0" marL="0" marR="0" rtl="0" algn="l">
              <a:spcBef>
                <a:spcPts val="1600"/>
              </a:spcBef>
              <a:spcAft>
                <a:spcPts val="0"/>
              </a:spcAft>
              <a:buNone/>
            </a:pPr>
            <a:r>
              <a:t/>
            </a:r>
            <a:endParaRPr sz="1100">
              <a:solidFill>
                <a:srgbClr val="BDD5F0"/>
              </a:solidFill>
              <a:latin typeface="Calibri"/>
              <a:ea typeface="Calibri"/>
              <a:cs typeface="Calibri"/>
              <a:sym typeface="Calibri"/>
            </a:endParaRPr>
          </a:p>
        </p:txBody>
      </p:sp>
      <p:sp>
        <p:nvSpPr>
          <p:cNvPr id="309" name="Google Shape;309;p12"/>
          <p:cNvSpPr/>
          <p:nvPr/>
        </p:nvSpPr>
        <p:spPr>
          <a:xfrm>
            <a:off x="3218688" y="1078992"/>
            <a:ext cx="2834640" cy="3730752"/>
          </a:xfrm>
          <a:prstGeom prst="rect">
            <a:avLst/>
          </a:prstGeom>
          <a:solidFill>
            <a:srgbClr val="1E3A5F"/>
          </a:solidFill>
          <a:ln>
            <a:noFill/>
          </a:ln>
          <a:effectLst>
            <a:outerShdw blurRad="1270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2"/>
          <p:cNvSpPr/>
          <p:nvPr/>
        </p:nvSpPr>
        <p:spPr>
          <a:xfrm>
            <a:off x="3218688" y="1078992"/>
            <a:ext cx="2834640" cy="658368"/>
          </a:xfrm>
          <a:prstGeom prst="rect">
            <a:avLst/>
          </a:prstGeom>
          <a:solidFill>
            <a:srgbClr val="065A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2"/>
          <p:cNvSpPr/>
          <p:nvPr/>
        </p:nvSpPr>
        <p:spPr>
          <a:xfrm>
            <a:off x="3328416" y="1170432"/>
            <a:ext cx="475488" cy="475488"/>
          </a:xfrm>
          <a:prstGeom prst="ellipse">
            <a:avLst/>
          </a:pr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2" name="Google Shape;312;p12"/>
          <p:cNvPicPr preferRelativeResize="0"/>
          <p:nvPr/>
        </p:nvPicPr>
        <p:blipFill rotWithShape="1">
          <a:blip r:embed="rId4">
            <a:alphaModFix/>
          </a:blip>
          <a:srcRect b="0" l="0" r="0" t="0"/>
          <a:stretch/>
        </p:blipFill>
        <p:spPr>
          <a:xfrm>
            <a:off x="3364992" y="1207008"/>
            <a:ext cx="402336" cy="402336"/>
          </a:xfrm>
          <a:prstGeom prst="rect">
            <a:avLst/>
          </a:prstGeom>
          <a:noFill/>
          <a:ln>
            <a:noFill/>
          </a:ln>
        </p:spPr>
      </p:pic>
      <p:sp>
        <p:nvSpPr>
          <p:cNvPr id="313" name="Google Shape;313;p12"/>
          <p:cNvSpPr/>
          <p:nvPr/>
        </p:nvSpPr>
        <p:spPr>
          <a:xfrm>
            <a:off x="3913632" y="1078992"/>
            <a:ext cx="2066544"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Achievements</a:t>
            </a:r>
            <a:endParaRPr sz="1200">
              <a:solidFill>
                <a:schemeClr val="dk1"/>
              </a:solidFill>
              <a:latin typeface="Calibri"/>
              <a:ea typeface="Calibri"/>
              <a:cs typeface="Calibri"/>
              <a:sym typeface="Calibri"/>
            </a:endParaRPr>
          </a:p>
        </p:txBody>
      </p:sp>
      <p:sp>
        <p:nvSpPr>
          <p:cNvPr id="314" name="Google Shape;314;p12"/>
          <p:cNvSpPr/>
          <p:nvPr/>
        </p:nvSpPr>
        <p:spPr>
          <a:xfrm>
            <a:off x="3383280" y="1792224"/>
            <a:ext cx="2505456" cy="2980944"/>
          </a:xfrm>
          <a:prstGeom prst="rect">
            <a:avLst/>
          </a:prstGeom>
          <a:noFill/>
          <a:ln>
            <a:noFill/>
          </a:ln>
        </p:spPr>
        <p:txBody>
          <a:bodyPr anchorCtr="0" anchor="ctr" bIns="0" lIns="0" spcFirstLastPara="1" rIns="0" wrap="square" tIns="0">
            <a:noAutofit/>
          </a:bodyPr>
          <a:lstStyle/>
          <a:p>
            <a:pPr indent="-298450" lvl="0" marL="457200" rtl="0" algn="l">
              <a:lnSpc>
                <a:spcPct val="115000"/>
              </a:lnSpc>
              <a:spcBef>
                <a:spcPts val="120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Successfully completed internship project.</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Implemented Deep Learning model.</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Integrated real-time cryptocurrency data.</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Created prediction visualization dashboard.</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Enhanced Python and AI development skills.</a:t>
            </a:r>
            <a:endParaRPr sz="1100">
              <a:solidFill>
                <a:srgbClr val="BDD5F0"/>
              </a:solidFill>
              <a:latin typeface="Calibri"/>
              <a:ea typeface="Calibri"/>
              <a:cs typeface="Calibri"/>
              <a:sym typeface="Calibri"/>
            </a:endParaRPr>
          </a:p>
          <a:p>
            <a:pPr indent="0" lvl="0" marL="0" marR="0" rtl="0" algn="l">
              <a:spcBef>
                <a:spcPts val="1600"/>
              </a:spcBef>
              <a:spcAft>
                <a:spcPts val="0"/>
              </a:spcAft>
              <a:buNone/>
            </a:pPr>
            <a:r>
              <a:t/>
            </a:r>
            <a:endParaRPr sz="1100">
              <a:solidFill>
                <a:srgbClr val="BDD5F0"/>
              </a:solidFill>
              <a:latin typeface="Calibri"/>
              <a:ea typeface="Calibri"/>
              <a:cs typeface="Calibri"/>
              <a:sym typeface="Calibri"/>
            </a:endParaRPr>
          </a:p>
        </p:txBody>
      </p:sp>
      <p:sp>
        <p:nvSpPr>
          <p:cNvPr id="315" name="Google Shape;315;p12"/>
          <p:cNvSpPr/>
          <p:nvPr/>
        </p:nvSpPr>
        <p:spPr>
          <a:xfrm>
            <a:off x="6181344" y="1078992"/>
            <a:ext cx="2834640" cy="3730752"/>
          </a:xfrm>
          <a:prstGeom prst="rect">
            <a:avLst/>
          </a:prstGeom>
          <a:solidFill>
            <a:srgbClr val="1E3A5F"/>
          </a:solidFill>
          <a:ln>
            <a:noFill/>
          </a:ln>
          <a:effectLst>
            <a:outerShdw blurRad="127000" rotWithShape="0" algn="bl" dir="81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2"/>
          <p:cNvSpPr/>
          <p:nvPr/>
        </p:nvSpPr>
        <p:spPr>
          <a:xfrm>
            <a:off x="6181344" y="1078992"/>
            <a:ext cx="2834640" cy="658368"/>
          </a:xfrm>
          <a:prstGeom prst="rect">
            <a:avLst/>
          </a:prstGeom>
          <a:solidFill>
            <a:srgbClr val="1A6E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2"/>
          <p:cNvSpPr/>
          <p:nvPr/>
        </p:nvSpPr>
        <p:spPr>
          <a:xfrm>
            <a:off x="6291072" y="1170432"/>
            <a:ext cx="475488" cy="475488"/>
          </a:xfrm>
          <a:prstGeom prst="ellipse">
            <a:avLst/>
          </a:prstGeom>
          <a:solidFill>
            <a:srgbClr val="FFFFFF">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8" name="Google Shape;318;p12"/>
          <p:cNvPicPr preferRelativeResize="0"/>
          <p:nvPr/>
        </p:nvPicPr>
        <p:blipFill rotWithShape="1">
          <a:blip r:embed="rId6">
            <a:alphaModFix/>
          </a:blip>
          <a:srcRect b="0" l="0" r="0" t="0"/>
          <a:stretch/>
        </p:blipFill>
        <p:spPr>
          <a:xfrm>
            <a:off x="6327648" y="1207008"/>
            <a:ext cx="402336" cy="402336"/>
          </a:xfrm>
          <a:prstGeom prst="rect">
            <a:avLst/>
          </a:prstGeom>
          <a:noFill/>
          <a:ln>
            <a:noFill/>
          </a:ln>
        </p:spPr>
      </p:pic>
      <p:sp>
        <p:nvSpPr>
          <p:cNvPr id="319" name="Google Shape;319;p12"/>
          <p:cNvSpPr/>
          <p:nvPr/>
        </p:nvSpPr>
        <p:spPr>
          <a:xfrm>
            <a:off x="6876288" y="1078992"/>
            <a:ext cx="2066544"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lang="en-US" sz="1200">
                <a:solidFill>
                  <a:srgbClr val="FFFFFF"/>
                </a:solidFill>
                <a:latin typeface="Calibri"/>
                <a:ea typeface="Calibri"/>
                <a:cs typeface="Calibri"/>
                <a:sym typeface="Calibri"/>
              </a:rPr>
              <a:t>Future Improvements</a:t>
            </a:r>
            <a:endParaRPr sz="1200">
              <a:solidFill>
                <a:schemeClr val="dk1"/>
              </a:solidFill>
              <a:latin typeface="Calibri"/>
              <a:ea typeface="Calibri"/>
              <a:cs typeface="Calibri"/>
              <a:sym typeface="Calibri"/>
            </a:endParaRPr>
          </a:p>
        </p:txBody>
      </p:sp>
      <p:sp>
        <p:nvSpPr>
          <p:cNvPr id="320" name="Google Shape;320;p12"/>
          <p:cNvSpPr/>
          <p:nvPr/>
        </p:nvSpPr>
        <p:spPr>
          <a:xfrm>
            <a:off x="6345936" y="1792224"/>
            <a:ext cx="2505456" cy="2980944"/>
          </a:xfrm>
          <a:prstGeom prst="rect">
            <a:avLst/>
          </a:prstGeom>
          <a:noFill/>
          <a:ln>
            <a:noFill/>
          </a:ln>
        </p:spPr>
        <p:txBody>
          <a:bodyPr anchorCtr="0" anchor="ctr" bIns="0" lIns="0" spcFirstLastPara="1" rIns="0" wrap="square" tIns="0">
            <a:noAutofit/>
          </a:bodyPr>
          <a:lstStyle/>
          <a:p>
            <a:pPr indent="-298450" lvl="0" marL="457200" rtl="0" algn="l">
              <a:lnSpc>
                <a:spcPct val="115000"/>
              </a:lnSpc>
              <a:spcBef>
                <a:spcPts val="120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Multi-Cryptocurrency Prediction</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7-Day Forecasting</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Real-Time Live Dashboard</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Sentiment Analysis using News &amp; Social Media</a:t>
            </a:r>
            <a:endParaRPr sz="1100">
              <a:solidFill>
                <a:srgbClr val="BDD5F0"/>
              </a:solidFill>
              <a:latin typeface="Calibri"/>
              <a:ea typeface="Calibri"/>
              <a:cs typeface="Calibri"/>
              <a:sym typeface="Calibri"/>
            </a:endParaRPr>
          </a:p>
          <a:p>
            <a:pPr indent="-298450" lvl="0" marL="457200" rtl="0" algn="l">
              <a:lnSpc>
                <a:spcPct val="115000"/>
              </a:lnSpc>
              <a:spcBef>
                <a:spcPts val="0"/>
              </a:spcBef>
              <a:spcAft>
                <a:spcPts val="0"/>
              </a:spcAft>
              <a:buClr>
                <a:srgbClr val="BDD5F0"/>
              </a:buClr>
              <a:buSzPts val="1100"/>
              <a:buFont typeface="Calibri"/>
              <a:buChar char="•"/>
            </a:pPr>
            <a:r>
              <a:rPr lang="en-US" sz="1100">
                <a:solidFill>
                  <a:srgbClr val="BDD5F0"/>
                </a:solidFill>
                <a:latin typeface="Calibri"/>
                <a:ea typeface="Calibri"/>
                <a:cs typeface="Calibri"/>
                <a:sym typeface="Calibri"/>
              </a:rPr>
              <a:t> Cloud Deployment</a:t>
            </a:r>
            <a:endParaRPr sz="1100">
              <a:solidFill>
                <a:srgbClr val="BDD5F0"/>
              </a:solidFill>
              <a:latin typeface="Calibri"/>
              <a:ea typeface="Calibri"/>
              <a:cs typeface="Calibri"/>
              <a:sym typeface="Calibri"/>
            </a:endParaRPr>
          </a:p>
          <a:p>
            <a:pPr indent="0" lvl="0" marL="0" marR="0" rtl="0" algn="l">
              <a:spcBef>
                <a:spcPts val="1600"/>
              </a:spcBef>
              <a:spcAft>
                <a:spcPts val="0"/>
              </a:spcAft>
              <a:buNone/>
            </a:pPr>
            <a:r>
              <a:t/>
            </a:r>
            <a:endParaRPr sz="1100">
              <a:solidFill>
                <a:srgbClr val="BDD5F0"/>
              </a:solidFill>
              <a:latin typeface="Calibri"/>
              <a:ea typeface="Calibri"/>
              <a:cs typeface="Calibri"/>
              <a:sym typeface="Calibri"/>
            </a:endParaRPr>
          </a:p>
        </p:txBody>
      </p:sp>
      <p:sp>
        <p:nvSpPr>
          <p:cNvPr id="321" name="Google Shape;321;p12"/>
          <p:cNvSpPr/>
          <p:nvPr/>
        </p:nvSpPr>
        <p:spPr>
          <a:xfrm>
            <a:off x="256032" y="4864608"/>
            <a:ext cx="8631936" cy="201168"/>
          </a:xfrm>
          <a:prstGeom prst="rect">
            <a:avLst/>
          </a:prstGeom>
          <a:solidFill>
            <a:srgbClr val="3AACF0">
              <a:alpha val="65098"/>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2"/>
          <p:cNvSpPr/>
          <p:nvPr/>
        </p:nvSpPr>
        <p:spPr>
          <a:xfrm>
            <a:off x="256032" y="4864608"/>
            <a:ext cx="8631936"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lang="en-US" sz="850">
                <a:solidFill>
                  <a:srgbClr val="FFFFFF"/>
                </a:solidFill>
                <a:latin typeface="Calibri"/>
                <a:ea typeface="Calibri"/>
                <a:cs typeface="Calibri"/>
                <a:sym typeface="Calibri"/>
              </a:rPr>
              <a:t>Thank You  |  Questions &amp; Feedback Welcome  |  EduTech Solutions Internship  |  [Your Name]</a:t>
            </a:r>
            <a:endParaRPr sz="8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